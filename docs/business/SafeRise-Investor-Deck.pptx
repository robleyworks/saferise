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charts/chart1.xml" ContentType="application/vnd.openxmlformats-officedocument.drawingml.chart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charts/chart2.xml" ContentType="application/vnd.openxmlformats-officedocument.drawingml.chart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</p:sldIdLst>
  <p:notesMasterIdLst>
    <p:notesMasterId r:id="rId4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notesMaster" Target="notesMasters/notesMaster1.xml"/><Relationship Id="rId44" Type="http://schemas.openxmlformats.org/officeDocument/2006/relationships/presProps" Target="presProps.xml"/><Relationship Id="rId45" Type="http://schemas.openxmlformats.org/officeDocument/2006/relationships/viewProps" Target="viewProps.xml"/><Relationship Id="rId46" Type="http://schemas.openxmlformats.org/officeDocument/2006/relationships/theme" Target="theme/theme1.xml"/><Relationship Id="rId47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Conservative</c:v>
                </c:pt>
              </c:strCache>
            </c:strRef>
          </c:tx>
          <c:spPr>
            <a:solidFill>
              <a:srgbClr val="4E9AA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Year 1</c:v>
                  </c:pt>
                  <c:pt idx="1">
                    <c:v>Year 2</c:v>
                  </c:pt>
                  <c:pt idx="2">
                    <c:v>Year 3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62955</c:v>
                </c:pt>
                <c:pt idx="1">
                  <c:v>144002</c:v>
                </c:pt>
                <c:pt idx="2">
                  <c:v>248307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Base</c:v>
                </c:pt>
              </c:strCache>
            </c:strRef>
          </c:tx>
          <c:spPr>
            <a:solidFill>
              <a:srgbClr val="D8AA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Year 1</c:v>
                  </c:pt>
                  <c:pt idx="1">
                    <c:v>Year 2</c:v>
                  </c:pt>
                  <c:pt idx="2">
                    <c:v>Year 3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97177</c:v>
                </c:pt>
                <c:pt idx="1">
                  <c:v>256823</c:v>
                </c:pt>
                <c:pt idx="2">
                  <c:v>454998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Optimistic</c:v>
                </c:pt>
              </c:strCache>
            </c:strRef>
          </c:tx>
          <c:spPr>
            <a:solidFill>
              <a:srgbClr val="E8709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Year 1</c:v>
                  </c:pt>
                  <c:pt idx="1">
                    <c:v>Year 2</c:v>
                  </c:pt>
                  <c:pt idx="2">
                    <c:v>Year 3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142862</c:v>
                </c:pt>
                <c:pt idx="1">
                  <c:v>417316</c:v>
                </c:pt>
                <c:pt idx="2">
                  <c:v>748621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A69F94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2E3550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A69F94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A69F94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D8AA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Year 1</c:v>
                  </c:pt>
                  <c:pt idx="1">
                    <c:v>Year 2</c:v>
                  </c:pt>
                  <c:pt idx="2">
                    <c:v>Year 3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123472</c:v>
                </c:pt>
                <c:pt idx="1">
                  <c:v>630751</c:v>
                </c:pt>
                <c:pt idx="2">
                  <c:v>1244485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Cost</c:v>
                </c:pt>
              </c:strCache>
            </c:strRef>
          </c:tx>
          <c:spPr>
            <a:solidFill>
              <a:srgbClr val="4E9AA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Year 1</c:v>
                  </c:pt>
                  <c:pt idx="1">
                    <c:v>Year 2</c:v>
                  </c:pt>
                  <c:pt idx="2">
                    <c:v>Year 3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281874</c:v>
                </c:pt>
                <c:pt idx="1">
                  <c:v>654938</c:v>
                </c:pt>
                <c:pt idx="2">
                  <c:v>974424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A69F94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2E3550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A69F94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A69F94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Consolidated deck. Supersedes the earlier business summary and merges the GTM deck.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Section break between market failure and the position. The cost of an unregulated state in ordinary life.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image" Target="../media/image-12-2.jpg"/><Relationship Id="rId3" Type="http://schemas.openxmlformats.org/officeDocument/2006/relationships/image" Target="../media/image-12-3.jpg"/><Relationship Id="rId4" Type="http://schemas.openxmlformats.org/officeDocument/2006/relationships/image" Target="../media/image-12-4.jpg"/><Relationship Id="rId5" Type="http://schemas.openxmlformats.org/officeDocument/2006/relationships/image" Target="../media/image-12-5.jpg"/><Relationship Id="rId6" Type="http://schemas.openxmlformats.org/officeDocument/2006/relationships/image" Target="../media/image-12-6.jp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chart" Target="..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image" Target="../media/image-3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ov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755648" y="-18288"/>
            <a:ext cx="15727680" cy="689457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7223760" cy="6858000"/>
          </a:xfrm>
          <a:prstGeom prst="rect">
            <a:avLst/>
          </a:prstGeom>
          <a:solidFill>
            <a:srgbClr val="0F1420">
              <a:alpha val="88000"/>
            </a:srgbClr>
          </a:solidFill>
          <a:ln/>
        </p:spPr>
        <p:txBody>
          <a:bodyPr/>
          <a:p/>
        </p:txBody>
      </p:sp>
      <p:sp>
        <p:nvSpPr>
          <p:cNvPr id="4" name="Shape 1"/>
          <p:cNvSpPr/>
          <p:nvPr/>
        </p:nvSpPr>
        <p:spPr>
          <a:xfrm>
            <a:off x="7223760" y="0"/>
            <a:ext cx="4965192" cy="6858000"/>
          </a:xfrm>
          <a:prstGeom prst="rect">
            <a:avLst/>
          </a:prstGeom>
          <a:solidFill>
            <a:srgbClr val="0F1420">
              <a:alpha val="55000"/>
            </a:srgbClr>
          </a:solidFill>
          <a:ln/>
        </p:spPr>
        <p:txBody>
          <a:bodyPr/>
          <a:p/>
        </p:txBody>
      </p:sp>
      <p:sp>
        <p:nvSpPr>
          <p:cNvPr id="5" name="Shape 2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D8AA43"/>
          </a:solidFill>
          <a:ln/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777240" y="141732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40" kern="0" dirty="0">
                <a:solidFill>
                  <a:srgbClr val="D8A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SAFERISE PROTOCOL</a:t>
            </a:r>
            <a:endParaRPr lang="en-US" sz="105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1828800"/>
            <a:ext cx="76809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400"/>
              </a:lnSpc>
              <a:buNone/>
            </a:pPr>
            <a:r>
              <a:rPr lang="en-US" sz="4800" spc="-60" kern="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Regulation as</a:t>
            </a:r>
            <a:endParaRPr lang="en-US" sz="4800" dirty="0"/>
          </a:p>
          <a:p>
            <a:pPr indent="0" marL="0">
              <a:lnSpc>
                <a:spcPts val="5400"/>
              </a:lnSpc>
              <a:buNone/>
            </a:pPr>
            <a:r>
              <a:rPr lang="en-US" sz="4800" spc="-60" kern="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infrastructure.</a:t>
            </a:r>
            <a:endParaRPr lang="en-US" sz="48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3886200"/>
            <a:ext cx="6949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68"/>
              </a:lnSpc>
              <a:buNone/>
            </a:pPr>
            <a:r>
              <a:rPr lang="en-US" sz="140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curated protocol system for emotional regulation — helping people recover enough internal resource and command of attention to perceive more clearly, judge more soundly, and respond more deliberately.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777240" y="5349240"/>
            <a:ext cx="2011680" cy="0"/>
          </a:xfrm>
          <a:prstGeom prst="line">
            <a:avLst/>
          </a:prstGeom>
          <a:noFill/>
          <a:ln w="12700">
            <a:solidFill>
              <a:srgbClr val="D8AA43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777240" y="5577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development assessment  ·  Andre Robley  ·  Kenor International B.V.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40" kern="0" dirty="0">
                <a:solidFill>
                  <a:srgbClr val="D8A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MARKET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914400"/>
            <a:ext cx="10607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570"/>
              </a:lnSpc>
              <a:buNone/>
            </a:pPr>
            <a:r>
              <a:rPr lang="en-US" sz="34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Large, compounding, and unusually unconsolidated.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224028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D8A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$9.45B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310896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63"/>
              </a:lnSpc>
              <a:buNone/>
            </a:pPr>
            <a:r>
              <a:rPr lang="en-US" sz="115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mental health apps, 2026</a:t>
            </a:r>
            <a:endParaRPr lang="en-US" sz="1150" dirty="0"/>
          </a:p>
        </p:txBody>
      </p:sp>
      <p:sp>
        <p:nvSpPr>
          <p:cNvPr id="6" name="Text 4"/>
          <p:cNvSpPr txBox="1"/>
          <p:nvPr/>
        </p:nvSpPr>
        <p:spPr>
          <a:xfrm>
            <a:off x="3474720" y="224028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D8A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14.8%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3474720" y="310896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63"/>
              </a:lnSpc>
              <a:buNone/>
            </a:pPr>
            <a:r>
              <a:rPr lang="en-US" sz="115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CAGR to 2031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6172200" y="224028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D8A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15%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6172200" y="310896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63"/>
              </a:lnSpc>
              <a:buNone/>
            </a:pPr>
            <a:r>
              <a:rPr lang="en-US" sz="115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held by the top five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8869680" y="224028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D8A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31%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8869680" y="310896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63"/>
              </a:lnSpc>
              <a:buNone/>
            </a:pPr>
            <a:r>
              <a:rPr lang="en-US" sz="115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growth in US corporate wellness app programmes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777240" y="411480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6"/>
              </a:lnSpc>
              <a:buNone/>
            </a:pPr>
            <a:r>
              <a:rPr lang="en-US" sz="130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mental health apps market was valued at $8.40B in 2025 and is estimated to reach $18.81B by 2031. The wider wellness apps market runs $14.81B in 2026 toward $51.12B by 2035.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777240" y="493776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6"/>
              </a:lnSpc>
              <a:buNone/>
            </a:pPr>
            <a:r>
              <a:rPr lang="en-US" sz="130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top five — Calm, Headspace, Talkspace, Teladoc, Woebot — held roughly 15% between them in 2025, the leader under 6%. This is not a market with an incumbent to displace. It is a market with room underneath.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777240" y="6583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7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SafeRise Protocol · Business Development Assessment · September 2026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11137392" y="65836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A7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40" kern="0" dirty="0">
                <a:solidFill>
                  <a:srgbClr val="D8A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MARKET FAILS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914400"/>
            <a:ext cx="10607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570"/>
              </a:lnSpc>
              <a:buNone/>
            </a:pPr>
            <a:r>
              <a:rPr lang="en-US" sz="34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failures, both structural.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777240" y="2240280"/>
            <a:ext cx="10652760" cy="1600200"/>
          </a:xfrm>
          <a:prstGeom prst="roundRect">
            <a:avLst>
              <a:gd name="adj" fmla="val 2857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1143000" y="2624328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E87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52%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2697480" y="2496312"/>
            <a:ext cx="5120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25"/>
              </a:lnSpc>
              <a:buNone/>
            </a:pPr>
            <a:r>
              <a:rPr lang="en-US" sz="125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users report data-security concerns limit their engagement. Every major platform stores emotional data on its own servers.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8092440" y="269748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i="1" dirty="0">
                <a:solidFill>
                  <a:srgbClr val="D8A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Records are device-only. Never synced, never opened to leadership.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777240" y="4023360"/>
            <a:ext cx="10652760" cy="1600200"/>
          </a:xfrm>
          <a:prstGeom prst="roundRect">
            <a:avLst>
              <a:gd name="adj" fmla="val 2857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1143000" y="4407408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E87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47%</a:t>
            </a:r>
            <a:endParaRPr lang="en-US" sz="3400" dirty="0"/>
          </a:p>
        </p:txBody>
      </p:sp>
      <p:sp>
        <p:nvSpPr>
          <p:cNvPr id="10" name="Text 8"/>
          <p:cNvSpPr txBox="1"/>
          <p:nvPr/>
        </p:nvSpPr>
        <p:spPr>
          <a:xfrm>
            <a:off x="2697480" y="4279392"/>
            <a:ext cx="5120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25"/>
              </a:lnSpc>
              <a:buNone/>
            </a:pPr>
            <a:r>
              <a:rPr lang="en-US" sz="125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cite lack of personalisation as the limit. Generic calm content cannot meet a specific state at the moment it arrives.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8092440" y="448056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i="1" dirty="0">
                <a:solidFill>
                  <a:srgbClr val="D8A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 protocols, each routed to a named state — not a content library.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777240" y="576072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i="1" dirty="0">
                <a:solidFill>
                  <a:srgbClr val="A69F9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Neither is a feature gap. Both follow from business models built on data capture and undifferentiated content — which is why an incumbent cannot copy the answer without giving up the model underneath.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777240" y="6583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7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SafeRise Protocol · Business Development Assessment · September 2026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11137392" y="65836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A7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os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737360" y="0"/>
            <a:ext cx="1568196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420">
              <a:alpha val="70000"/>
            </a:srgbClr>
          </a:solidFill>
          <a:ln/>
        </p:spPr>
        <p:txBody>
          <a:bodyPr/>
          <a:p/>
        </p:txBody>
      </p:sp>
      <p:sp>
        <p:nvSpPr>
          <p:cNvPr id="4" name="Shape 1"/>
          <p:cNvSpPr/>
          <p:nvPr/>
        </p:nvSpPr>
        <p:spPr>
          <a:xfrm>
            <a:off x="0" y="0"/>
            <a:ext cx="6949440" cy="6858000"/>
          </a:xfrm>
          <a:prstGeom prst="rect">
            <a:avLst/>
          </a:prstGeom>
          <a:solidFill>
            <a:srgbClr val="0F1420">
              <a:alpha val="92000"/>
            </a:srgbClr>
          </a:solidFill>
          <a:ln/>
        </p:spPr>
        <p:txBody>
          <a:bodyPr/>
          <a:p/>
        </p:txBody>
      </p:sp>
      <p:sp>
        <p:nvSpPr>
          <p:cNvPr id="5" name="Text 2"/>
          <p:cNvSpPr txBox="1"/>
          <p:nvPr/>
        </p:nvSpPr>
        <p:spPr>
          <a:xfrm>
            <a:off x="777240" y="132588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40" kern="0" dirty="0">
                <a:solidFill>
                  <a:srgbClr val="D8A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COSTS</a:t>
            </a:r>
            <a:endParaRPr lang="en-US" sz="1050" dirty="0"/>
          </a:p>
        </p:txBody>
      </p:sp>
      <p:sp>
        <p:nvSpPr>
          <p:cNvPr id="6" name="Text 3"/>
          <p:cNvSpPr txBox="1"/>
          <p:nvPr/>
        </p:nvSpPr>
        <p:spPr>
          <a:xfrm>
            <a:off x="777240" y="1737360"/>
            <a:ext cx="65836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800"/>
              </a:lnSpc>
              <a:buNone/>
            </a:pPr>
            <a:r>
              <a:rPr lang="en-US" sz="40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 does not stay</a:t>
            </a:r>
            <a:endParaRPr lang="en-US" sz="4000" dirty="0"/>
          </a:p>
          <a:p>
            <a:pPr indent="0" marL="0">
              <a:lnSpc>
                <a:spcPts val="4800"/>
              </a:lnSpc>
              <a:buNone/>
            </a:pPr>
            <a:r>
              <a:rPr lang="en-US" sz="40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one place.</a:t>
            </a:r>
            <a:endParaRPr lang="en-US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3703320"/>
            <a:ext cx="6035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1800" i="1" dirty="0">
                <a:solidFill>
                  <a:srgbClr val="DDD5C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Sleep lost to a mind that will not close.</a:t>
            </a:r>
            <a:endParaRPr lang="en-US" sz="18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800" i="1" dirty="0">
                <a:solidFill>
                  <a:srgbClr val="DDD5C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Patience spent before evening begins.</a:t>
            </a:r>
            <a:endParaRPr lang="en-US" sz="18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800" i="1" dirty="0">
                <a:solidFill>
                  <a:srgbClr val="DDD5C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Decisions delayed because clarity is out of reach.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777240" y="5257800"/>
            <a:ext cx="2011680" cy="0"/>
          </a:xfrm>
          <a:prstGeom prst="line">
            <a:avLst/>
          </a:prstGeom>
          <a:noFill/>
          <a:ln w="12700">
            <a:solidFill>
              <a:srgbClr val="D8AA43"/>
            </a:solidFill>
            <a:prstDash val="solid"/>
          </a:ln>
        </p:spPr>
        <p:txBody>
          <a:bodyPr/>
          <a:p/>
        </p:txBody>
      </p:sp>
      <p:sp>
        <p:nvSpPr>
          <p:cNvPr id="9" name="Text 6"/>
          <p:cNvSpPr txBox="1"/>
          <p:nvPr/>
        </p:nvSpPr>
        <p:spPr>
          <a:xfrm>
            <a:off x="777240" y="5486400"/>
            <a:ext cx="6035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state passes. Its effects do not — they land in the ordinary hours, and on the people nearby.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40" kern="0" dirty="0">
                <a:solidFill>
                  <a:srgbClr val="D8A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POSITION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914400"/>
            <a:ext cx="10607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360"/>
              </a:lnSpc>
              <a:buNone/>
            </a:pPr>
            <a:r>
              <a:rPr lang="en-US" sz="32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Most systems teach calm.</a:t>
            </a:r>
            <a:endParaRPr lang="en-US" sz="3200" dirty="0"/>
          </a:p>
          <a:p>
            <a:pPr indent="0" marL="0">
              <a:lnSpc>
                <a:spcPts val="3360"/>
              </a:lnSpc>
              <a:buNone/>
            </a:pPr>
            <a:r>
              <a:rPr lang="en-US" sz="32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This one teaches understanding.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251460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550"/>
              </a:lnSpc>
              <a:buNone/>
            </a:pPr>
            <a:r>
              <a:rPr lang="en-US" sz="1700" i="1" dirty="0">
                <a:solidFill>
                  <a:srgbClr val="A69F9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Regulation is not the destination. It is the condition that makes clear perception possible.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32918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68"/>
              </a:lnSpc>
              <a:buNone/>
            </a:pPr>
            <a:r>
              <a:rPr lang="en-US" sz="140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purpose of regulation is not relief. It is the recovered capacity to choose what happens next — which is why the product is defined by what it refuses as much as by what it offers.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777240" y="4343400"/>
            <a:ext cx="3429000" cy="566928"/>
          </a:xfrm>
          <a:prstGeom prst="roundRect">
            <a:avLst>
              <a:gd name="adj" fmla="val 8065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1033272" y="44805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generic wellness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389120" y="4343400"/>
            <a:ext cx="3429000" cy="566928"/>
          </a:xfrm>
          <a:prstGeom prst="roundRect">
            <a:avLst>
              <a:gd name="adj" fmla="val 8065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4645152" y="44805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course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001000" y="4343400"/>
            <a:ext cx="3429000" cy="566928"/>
          </a:xfrm>
          <a:prstGeom prst="roundRect">
            <a:avLst>
              <a:gd name="adj" fmla="val 8065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8257032" y="44805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gamified self-improvement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77240" y="5074920"/>
            <a:ext cx="3429000" cy="566928"/>
          </a:xfrm>
          <a:prstGeom prst="roundRect">
            <a:avLst>
              <a:gd name="adj" fmla="val 8065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1033272" y="521208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therapy replacement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389120" y="5074920"/>
            <a:ext cx="3429000" cy="566928"/>
          </a:xfrm>
          <a:prstGeom prst="roundRect">
            <a:avLst>
              <a:gd name="adj" fmla="val 8065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 txBox="1"/>
          <p:nvPr/>
        </p:nvSpPr>
        <p:spPr>
          <a:xfrm>
            <a:off x="4645152" y="521208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luxury wellness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8001000" y="5074920"/>
            <a:ext cx="3429000" cy="566928"/>
          </a:xfrm>
          <a:prstGeom prst="roundRect">
            <a:avLst>
              <a:gd name="adj" fmla="val 8065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8257032" y="521208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an outcome promise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777240" y="6583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7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SafeRise Protocol · Business Development Assessment · September 2026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11137392" y="65836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A7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40" kern="0" dirty="0">
                <a:solidFill>
                  <a:srgbClr val="D8A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DOCTRINE AND METHOD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914400"/>
            <a:ext cx="10607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360"/>
              </a:lnSpc>
              <a:buNone/>
            </a:pPr>
            <a:r>
              <a:rPr lang="en-US" sz="32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sequence. Every protocol.</a:t>
            </a:r>
            <a:endParaRPr lang="en-US" sz="3200" dirty="0"/>
          </a:p>
        </p:txBody>
      </p:sp>
      <p:pic>
        <p:nvPicPr>
          <p:cNvPr id="4" name="Image 0" descr="method-band.jpg">    </p:cNvPr>
          <p:cNvPicPr>
            <a:picLocks noChangeAspect="1"/>
          </p:cNvPicPr>
          <p:nvPr/>
        </p:nvPicPr>
        <p:blipFill>
          <a:blip r:embed="rId1"/>
          <a:srcRect b="57240"/>
          <a:stretch>
            <a:fillRect/>
          </a:stretch>
        </p:blipFill>
        <p:spPr>
          <a:xfrm>
            <a:off x="0" y="2560320"/>
            <a:ext cx="12188952" cy="17373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2560320"/>
            <a:ext cx="12188952" cy="1737360"/>
          </a:xfrm>
          <a:prstGeom prst="rect">
            <a:avLst/>
          </a:prstGeom>
          <a:solidFill>
            <a:srgbClr val="0F1420">
              <a:alpha val="48000"/>
            </a:srgbClr>
          </a:solidFill>
          <a:ln/>
        </p:spPr>
        <p:txBody>
          <a:bodyPr/>
          <a:p/>
        </p:txBody>
      </p:sp>
      <p:sp>
        <p:nvSpPr>
          <p:cNvPr id="7" name="Shape 4"/>
          <p:cNvSpPr/>
          <p:nvPr/>
        </p:nvSpPr>
        <p:spPr>
          <a:xfrm>
            <a:off x="0" y="3840480"/>
            <a:ext cx="12188952" cy="457200"/>
          </a:xfrm>
          <a:prstGeom prst="rect">
            <a:avLst/>
          </a:prstGeom>
          <a:solidFill>
            <a:srgbClr val="0F1420">
              <a:alpha val="88000"/>
            </a:srgbClr>
          </a:solidFill>
          <a:ln/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777240" y="20574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D8A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Attention  →  Awareness  →  Authorship</a:t>
            </a:r>
            <a:endParaRPr lang="en-US" sz="19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44348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D8A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777240" y="4736592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Recognise</a:t>
            </a:r>
            <a:endParaRPr lang="en-US" sz="1900" dirty="0"/>
          </a:p>
        </p:txBody>
      </p:sp>
      <p:sp>
        <p:nvSpPr>
          <p:cNvPr id="11" name="Text 8"/>
          <p:cNvSpPr txBox="1"/>
          <p:nvPr/>
        </p:nvSpPr>
        <p:spPr>
          <a:xfrm>
            <a:off x="777240" y="5120640"/>
            <a:ext cx="24871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1"/>
              </a:lnSpc>
              <a:buNone/>
            </a:pPr>
            <a:r>
              <a:rPr lang="en-US" sz="105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 the experience into view without diagnosis or fixed identity</a:t>
            </a:r>
            <a:endParaRPr lang="en-US" sz="1050" dirty="0"/>
          </a:p>
        </p:txBody>
      </p:sp>
      <p:sp>
        <p:nvSpPr>
          <p:cNvPr id="12" name="Text 9"/>
          <p:cNvSpPr txBox="1"/>
          <p:nvPr/>
        </p:nvSpPr>
        <p:spPr>
          <a:xfrm>
            <a:off x="3474720" y="44348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D8A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3474720" y="4736592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Regulate</a:t>
            </a:r>
            <a:endParaRPr lang="en-US" sz="1900" dirty="0"/>
          </a:p>
        </p:txBody>
      </p:sp>
      <p:sp>
        <p:nvSpPr>
          <p:cNvPr id="14" name="Text 11"/>
          <p:cNvSpPr txBox="1"/>
          <p:nvPr/>
        </p:nvSpPr>
        <p:spPr>
          <a:xfrm>
            <a:off x="3474720" y="5120640"/>
            <a:ext cx="24871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1"/>
              </a:lnSpc>
              <a:buNone/>
            </a:pPr>
            <a:r>
              <a:rPr lang="en-US" sz="105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enough steadiness to regain command of attention</a:t>
            </a:r>
            <a:endParaRPr lang="en-US" sz="1050" dirty="0"/>
          </a:p>
        </p:txBody>
      </p:sp>
      <p:sp>
        <p:nvSpPr>
          <p:cNvPr id="15" name="Text 12"/>
          <p:cNvSpPr txBox="1"/>
          <p:nvPr/>
        </p:nvSpPr>
        <p:spPr>
          <a:xfrm>
            <a:off x="6172200" y="44348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D8A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6172200" y="4736592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Release</a:t>
            </a:r>
            <a:endParaRPr lang="en-US" sz="1900" dirty="0"/>
          </a:p>
        </p:txBody>
      </p:sp>
      <p:sp>
        <p:nvSpPr>
          <p:cNvPr id="17" name="Text 14"/>
          <p:cNvSpPr txBox="1"/>
          <p:nvPr/>
        </p:nvSpPr>
        <p:spPr>
          <a:xfrm>
            <a:off x="6172200" y="5120640"/>
            <a:ext cx="24871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1"/>
              </a:lnSpc>
              <a:buNone/>
            </a:pPr>
            <a:r>
              <a:rPr lang="en-US" sz="105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Loosen struggle, self-blame and the demand to resolve everything now</a:t>
            </a:r>
            <a:endParaRPr lang="en-US" sz="1050" dirty="0"/>
          </a:p>
        </p:txBody>
      </p:sp>
      <p:sp>
        <p:nvSpPr>
          <p:cNvPr id="18" name="Text 15"/>
          <p:cNvSpPr txBox="1"/>
          <p:nvPr/>
        </p:nvSpPr>
        <p:spPr>
          <a:xfrm>
            <a:off x="8869680" y="44348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D8A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00" dirty="0"/>
          </a:p>
        </p:txBody>
      </p:sp>
      <p:sp>
        <p:nvSpPr>
          <p:cNvPr id="19" name="Text 16"/>
          <p:cNvSpPr txBox="1"/>
          <p:nvPr/>
        </p:nvSpPr>
        <p:spPr>
          <a:xfrm>
            <a:off x="8869680" y="4736592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Rise</a:t>
            </a:r>
            <a:endParaRPr lang="en-US" sz="1900" dirty="0"/>
          </a:p>
        </p:txBody>
      </p:sp>
      <p:sp>
        <p:nvSpPr>
          <p:cNvPr id="20" name="Text 17"/>
          <p:cNvSpPr txBox="1"/>
          <p:nvPr/>
        </p:nvSpPr>
        <p:spPr>
          <a:xfrm>
            <a:off x="8869680" y="5120640"/>
            <a:ext cx="24871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1"/>
              </a:lnSpc>
              <a:buNone/>
            </a:pPr>
            <a:r>
              <a:rPr lang="en-US" sz="105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 to deliberate participation, and a caring action</a:t>
            </a:r>
            <a:endParaRPr lang="en-US" sz="1050" dirty="0"/>
          </a:p>
        </p:txBody>
      </p:sp>
      <p:sp>
        <p:nvSpPr>
          <p:cNvPr id="21" name="Text 18"/>
          <p:cNvSpPr txBox="1"/>
          <p:nvPr/>
        </p:nvSpPr>
        <p:spPr>
          <a:xfrm>
            <a:off x="777240" y="5870448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75"/>
              </a:lnSpc>
              <a:buNone/>
            </a:pPr>
            <a:r>
              <a:rPr lang="en-US" sz="1250" i="1" dirty="0">
                <a:solidFill>
                  <a:srgbClr val="A69F9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same four steps run in every protocol, on every track, and in every language it is translated into. That consistency is the product.</a:t>
            </a:r>
            <a:endParaRPr lang="en-US" sz="1250" dirty="0"/>
          </a:p>
        </p:txBody>
      </p:sp>
      <p:sp>
        <p:nvSpPr>
          <p:cNvPr id="22" name="Text 19"/>
          <p:cNvSpPr txBox="1"/>
          <p:nvPr/>
        </p:nvSpPr>
        <p:spPr>
          <a:xfrm>
            <a:off x="777240" y="6583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7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SafeRise Protocol · Business Development Assessment · September 2026</a:t>
            </a:r>
            <a:endParaRPr lang="en-US" sz="900" dirty="0"/>
          </a:p>
        </p:txBody>
      </p:sp>
      <p:sp>
        <p:nvSpPr>
          <p:cNvPr id="23" name="Text 20"/>
          <p:cNvSpPr txBox="1"/>
          <p:nvPr/>
        </p:nvSpPr>
        <p:spPr>
          <a:xfrm>
            <a:off x="11137392" y="65836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A7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40" kern="0" dirty="0">
                <a:solidFill>
                  <a:srgbClr val="D8A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— NEW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914400"/>
            <a:ext cx="10607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570"/>
              </a:lnSpc>
              <a:buNone/>
            </a:pPr>
            <a:r>
              <a:rPr lang="en-US" sz="34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layers. Most programmes work one.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777240" y="2240280"/>
            <a:ext cx="3429000" cy="2560320"/>
          </a:xfrm>
          <a:prstGeom prst="roundRect">
            <a:avLst>
              <a:gd name="adj" fmla="val 1786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1069848" y="246888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D8A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WHAT WE TRAIN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69848" y="27889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Capacity</a:t>
            </a:r>
            <a:endParaRPr lang="en-US" sz="2500" dirty="0"/>
          </a:p>
        </p:txBody>
      </p:sp>
      <p:sp>
        <p:nvSpPr>
          <p:cNvPr id="7" name="Text 5"/>
          <p:cNvSpPr txBox="1"/>
          <p:nvPr/>
        </p:nvSpPr>
        <p:spPr>
          <a:xfrm>
            <a:off x="1069848" y="3364992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44"/>
              </a:lnSpc>
              <a:buNone/>
            </a:pPr>
            <a:r>
              <a:rPr lang="en-US" sz="120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Noticing the state, regulating it, recovering choice.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069848" y="4114800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i="1" dirty="0">
                <a:solidFill>
                  <a:srgbClr val="D8A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Sits below every skill you have trained and above every decision made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425696" y="2240280"/>
            <a:ext cx="3429000" cy="2560320"/>
          </a:xfrm>
          <a:prstGeom prst="roundRect">
            <a:avLst>
              <a:gd name="adj" fmla="val 1786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4718304" y="246888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4E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WHAT IT DEPENDS ON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4718304" y="27889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Substrate</a:t>
            </a:r>
            <a:endParaRPr lang="en-US" sz="2500" dirty="0"/>
          </a:p>
        </p:txBody>
      </p:sp>
      <p:sp>
        <p:nvSpPr>
          <p:cNvPr id="12" name="Text 10"/>
          <p:cNvSpPr txBox="1"/>
          <p:nvPr/>
        </p:nvSpPr>
        <p:spPr>
          <a:xfrm>
            <a:off x="4718304" y="3364992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44"/>
              </a:lnSpc>
              <a:buNone/>
            </a:pPr>
            <a:r>
              <a:rPr lang="en-US" sz="120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Sleep, nutrition, training load, chronic stress.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4718304" y="4114800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i="1" dirty="0">
                <a:solidFill>
                  <a:srgbClr val="4E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Whether that capacity is physically available at all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074152" y="2240280"/>
            <a:ext cx="3429000" cy="2560320"/>
          </a:xfrm>
          <a:prstGeom prst="roundRect">
            <a:avLst>
              <a:gd name="adj" fmla="val 1786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 txBox="1"/>
          <p:nvPr/>
        </p:nvSpPr>
        <p:spPr>
          <a:xfrm>
            <a:off x="8366760" y="246888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E87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WHERE IT LANDS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8366760" y="27889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Application</a:t>
            </a:r>
            <a:endParaRPr lang="en-US" sz="2500" dirty="0"/>
          </a:p>
        </p:txBody>
      </p:sp>
      <p:sp>
        <p:nvSpPr>
          <p:cNvPr id="17" name="Text 15"/>
          <p:cNvSpPr txBox="1"/>
          <p:nvPr/>
        </p:nvSpPr>
        <p:spPr>
          <a:xfrm>
            <a:off x="8366760" y="3364992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44"/>
              </a:lnSpc>
              <a:buNone/>
            </a:pPr>
            <a:r>
              <a:rPr lang="en-US" sz="120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Conversations, decisions, performance, the shift.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8366760" y="4114800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i="1" dirty="0">
                <a:solidFill>
                  <a:srgbClr val="E87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only layer most wellbeing and L&amp;D spend touches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777240" y="507492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75"/>
              </a:lnSpc>
              <a:buNone/>
            </a:pPr>
            <a:r>
              <a:rPr lang="en-US" sz="1450" i="1" dirty="0">
                <a:solidFill>
                  <a:srgbClr val="A69F9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arrow runs both ways. Degraded capacity produces the decisions that wreck sleep; poor sleep degrades capacity further. SafeRise is where a person can interrupt that loop rather than be carried by it.</a:t>
            </a:r>
            <a:endParaRPr lang="en-US" sz="1450" dirty="0"/>
          </a:p>
        </p:txBody>
      </p:sp>
      <p:sp>
        <p:nvSpPr>
          <p:cNvPr id="20" name="Text 18"/>
          <p:cNvSpPr txBox="1"/>
          <p:nvPr/>
        </p:nvSpPr>
        <p:spPr>
          <a:xfrm>
            <a:off x="777240" y="58064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44"/>
              </a:lnSpc>
              <a:buNone/>
            </a:pPr>
            <a:r>
              <a:rPr lang="en-US" sz="1200" dirty="0">
                <a:solidFill>
                  <a:srgbClr val="7A7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why Sleep, Nutrition and Strength are not adjacent markets. Without substrate there is no capacity, and the platform would be teaching people to regulate on an empty tank.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777240" y="6583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7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SafeRise Protocol · Business Development Assessment · September 2026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11137392" y="65836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A7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40" kern="0" dirty="0">
                <a:solidFill>
                  <a:srgbClr val="D8A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SURVIVES CLINICAL SCRUTINY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914400"/>
            <a:ext cx="10607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570"/>
              </a:lnSpc>
              <a:buNone/>
            </a:pPr>
            <a:r>
              <a:rPr lang="en-US" sz="34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Six frameworks, tiered by evidence.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2103120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40" kern="0" dirty="0">
                <a:solidFill>
                  <a:srgbClr val="D8A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PEER-REVIEWED — LEADS EVERY CLINICAL AND INVESTOR CONVERSATION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777240" y="2395728"/>
            <a:ext cx="10652760" cy="457200"/>
          </a:xfrm>
          <a:prstGeom prst="roundRect">
            <a:avLst>
              <a:gd name="adj" fmla="val 10000"/>
            </a:avLst>
          </a:prstGeom>
          <a:solidFill>
            <a:srgbClr val="1C2236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1051560" y="2496312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Porges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2880360" y="250545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82"/>
              </a:lnSpc>
              <a:buNone/>
            </a:pPr>
            <a:r>
              <a:rPr lang="en-US" sz="110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Polyvagal Theory — autonomic state and safety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777240" y="2907792"/>
            <a:ext cx="10652760" cy="457200"/>
          </a:xfrm>
          <a:prstGeom prst="roundRect">
            <a:avLst>
              <a:gd name="adj" fmla="val 10000"/>
            </a:avLst>
          </a:prstGeom>
          <a:solidFill>
            <a:srgbClr val="1C2236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1051560" y="3008376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HeartMath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2880360" y="30175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82"/>
              </a:lnSpc>
              <a:buNone/>
            </a:pPr>
            <a:r>
              <a:rPr lang="en-US" sz="110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Cardiac coherence — heart-rhythm and regulation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777240" y="3419856"/>
            <a:ext cx="10652760" cy="457200"/>
          </a:xfrm>
          <a:prstGeom prst="roundRect">
            <a:avLst>
              <a:gd name="adj" fmla="val 10000"/>
            </a:avLst>
          </a:prstGeom>
          <a:solidFill>
            <a:srgbClr val="1C2236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1051560" y="3520440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Kross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2880360" y="352958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82"/>
              </a:lnSpc>
              <a:buNone/>
            </a:pPr>
            <a:r>
              <a:rPr lang="en-US" sz="110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Distanced self-talk — perspective and rumination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777240" y="4133088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40" kern="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PRACTICE AND INTERPRETIVE — LABELLED AS SUCH, NEVER PRESENTED AS MECHANISM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777240" y="4443984"/>
            <a:ext cx="10652760" cy="438912"/>
          </a:xfrm>
          <a:prstGeom prst="roundRect">
            <a:avLst>
              <a:gd name="adj" fmla="val 10417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 txBox="1"/>
          <p:nvPr/>
        </p:nvSpPr>
        <p:spPr>
          <a:xfrm>
            <a:off x="1051560" y="4535424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DD5C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Maté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2880360" y="454456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1"/>
              </a:lnSpc>
              <a:buNone/>
            </a:pPr>
            <a:r>
              <a:rPr lang="en-US" sz="1050" dirty="0">
                <a:solidFill>
                  <a:srgbClr val="7A7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Compassionate Inquiry — clinical practice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777240" y="4937760"/>
            <a:ext cx="10652760" cy="438912"/>
          </a:xfrm>
          <a:prstGeom prst="roundRect">
            <a:avLst>
              <a:gd name="adj" fmla="val 10417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 txBox="1"/>
          <p:nvPr/>
        </p:nvSpPr>
        <p:spPr>
          <a:xfrm>
            <a:off x="1051560" y="5029200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DD5C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Jung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2880360" y="503834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1"/>
              </a:lnSpc>
              <a:buNone/>
            </a:pPr>
            <a:r>
              <a:rPr lang="en-US" sz="1050" dirty="0">
                <a:solidFill>
                  <a:srgbClr val="7A7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Shadow and individuation — interpretive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777240" y="5431536"/>
            <a:ext cx="10652760" cy="438912"/>
          </a:xfrm>
          <a:prstGeom prst="roundRect">
            <a:avLst>
              <a:gd name="adj" fmla="val 10417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22" name="Text 20"/>
          <p:cNvSpPr txBox="1"/>
          <p:nvPr/>
        </p:nvSpPr>
        <p:spPr>
          <a:xfrm>
            <a:off x="1051560" y="5522976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DD5C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Watts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2880360" y="55321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1"/>
              </a:lnSpc>
              <a:buNone/>
            </a:pPr>
            <a:r>
              <a:rPr lang="en-US" sz="1050" dirty="0">
                <a:solidFill>
                  <a:srgbClr val="7A7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Non-resistance — interpretive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777240" y="5870448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75"/>
              </a:lnSpc>
              <a:buNone/>
            </a:pPr>
            <a:r>
              <a:rPr lang="en-US" sz="1250" i="1" dirty="0">
                <a:solidFill>
                  <a:srgbClr val="A69F9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tiering is the defence. A reviewer who challenges Jung finds it already labelled interpretive — with the peer-reviewed layer standing independently underneath.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777240" y="6583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7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SafeRise Protocol · Business Development Assessment · September 2026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11137392" y="65836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A7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40" kern="0" dirty="0">
                <a:solidFill>
                  <a:srgbClr val="D8A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DISCIPLINE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914400"/>
            <a:ext cx="10607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570"/>
              </a:lnSpc>
              <a:buNone/>
            </a:pPr>
            <a:r>
              <a:rPr lang="en-US" sz="34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Eleven things this product will never say.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777240" y="2194560"/>
            <a:ext cx="3429000" cy="749808"/>
          </a:xfrm>
          <a:prstGeom prst="roundRect">
            <a:avLst>
              <a:gd name="adj" fmla="val 6098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1033272" y="2340864"/>
            <a:ext cx="2971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diagnosis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425696" y="2194560"/>
            <a:ext cx="3429000" cy="749808"/>
          </a:xfrm>
          <a:prstGeom prst="roundRect">
            <a:avLst>
              <a:gd name="adj" fmla="val 6098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4681728" y="2340864"/>
            <a:ext cx="2971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guaranteed outcomes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074152" y="2194560"/>
            <a:ext cx="3429000" cy="749808"/>
          </a:xfrm>
          <a:prstGeom prst="roundRect">
            <a:avLst>
              <a:gd name="adj" fmla="val 6098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8330184" y="2340864"/>
            <a:ext cx="2971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claim personal experience is universal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777240" y="3063240"/>
            <a:ext cx="3429000" cy="749808"/>
          </a:xfrm>
          <a:prstGeom prst="roundRect">
            <a:avLst>
              <a:gd name="adj" fmla="val 6098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1033272" y="3209544"/>
            <a:ext cx="2971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promise of curing anxiety or trauma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425696" y="3063240"/>
            <a:ext cx="3429000" cy="749808"/>
          </a:xfrm>
          <a:prstGeom prst="roundRect">
            <a:avLst>
              <a:gd name="adj" fmla="val 6098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4681728" y="3209544"/>
            <a:ext cx="2971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dependency mechanics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074152" y="3063240"/>
            <a:ext cx="3429000" cy="749808"/>
          </a:xfrm>
          <a:prstGeom prst="roundRect">
            <a:avLst>
              <a:gd name="adj" fmla="val 6098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 txBox="1"/>
          <p:nvPr/>
        </p:nvSpPr>
        <p:spPr>
          <a:xfrm>
            <a:off x="8330184" y="3209544"/>
            <a:ext cx="2971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gamification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77240" y="3931920"/>
            <a:ext cx="3429000" cy="749808"/>
          </a:xfrm>
          <a:prstGeom prst="roundRect">
            <a:avLst>
              <a:gd name="adj" fmla="val 6098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1033272" y="4078224"/>
            <a:ext cx="2971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pressure to complete a transformation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425696" y="3931920"/>
            <a:ext cx="3429000" cy="749808"/>
          </a:xfrm>
          <a:prstGeom prst="roundRect">
            <a:avLst>
              <a:gd name="adj" fmla="val 6098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 txBox="1"/>
          <p:nvPr/>
        </p:nvSpPr>
        <p:spPr>
          <a:xfrm>
            <a:off x="4681728" y="4078224"/>
            <a:ext cx="2971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unsupported physiological claims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8074152" y="3931920"/>
            <a:ext cx="3429000" cy="749808"/>
          </a:xfrm>
          <a:prstGeom prst="roundRect">
            <a:avLst>
              <a:gd name="adj" fmla="val 6098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 txBox="1"/>
          <p:nvPr/>
        </p:nvSpPr>
        <p:spPr>
          <a:xfrm>
            <a:off x="8330184" y="4078224"/>
            <a:ext cx="2971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forced trauma narratives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777240" y="4800600"/>
            <a:ext cx="3429000" cy="749808"/>
          </a:xfrm>
          <a:prstGeom prst="roundRect">
            <a:avLst>
              <a:gd name="adj" fmla="val 6098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 txBox="1"/>
          <p:nvPr/>
        </p:nvSpPr>
        <p:spPr>
          <a:xfrm>
            <a:off x="1033272" y="4946904"/>
            <a:ext cx="2971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requirement to find a root cause first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4425696" y="4800600"/>
            <a:ext cx="3429000" cy="749808"/>
          </a:xfrm>
          <a:prstGeom prst="roundRect">
            <a:avLst>
              <a:gd name="adj" fmla="val 6098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 txBox="1"/>
          <p:nvPr/>
        </p:nvSpPr>
        <p:spPr>
          <a:xfrm>
            <a:off x="4681728" y="4946904"/>
            <a:ext cx="2971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framing that outside support is unnecessary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777240" y="5742432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25"/>
              </a:lnSpc>
              <a:buNone/>
            </a:pPr>
            <a:r>
              <a:rPr lang="en-US" sz="1350" i="1" dirty="0">
                <a:solidFill>
                  <a:srgbClr val="A69F9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Lived experience, metaphor, plausible mechanism and established evidence are held apart at every layer — and the separation is audited, not assumed.</a:t>
            </a:r>
            <a:endParaRPr lang="en-US" sz="1350" dirty="0"/>
          </a:p>
        </p:txBody>
      </p:sp>
      <p:sp>
        <p:nvSpPr>
          <p:cNvPr id="27" name="Text 25"/>
          <p:cNvSpPr txBox="1"/>
          <p:nvPr/>
        </p:nvSpPr>
        <p:spPr>
          <a:xfrm>
            <a:off x="777240" y="6583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7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SafeRise Protocol · Business Development Assessment · September 2026</a:t>
            </a:r>
            <a:endParaRPr lang="en-US" sz="900" dirty="0"/>
          </a:p>
        </p:txBody>
      </p:sp>
      <p:sp>
        <p:nvSpPr>
          <p:cNvPr id="28" name="Text 26"/>
          <p:cNvSpPr txBox="1"/>
          <p:nvPr/>
        </p:nvSpPr>
        <p:spPr>
          <a:xfrm>
            <a:off x="11137392" y="65836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A7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40" kern="0" dirty="0">
                <a:solidFill>
                  <a:srgbClr val="D8A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BUILD · PUBLIC LAYER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914400"/>
            <a:ext cx="10607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570"/>
              </a:lnSpc>
              <a:buNone/>
            </a:pPr>
            <a:r>
              <a:rPr lang="en-US" sz="34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Recognition before persuasion.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2194560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68"/>
              </a:lnSpc>
              <a:buNone/>
            </a:pPr>
            <a:r>
              <a:rPr lang="en-US" sz="140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homepage has one job: build recognition. Not explain the method, not present the science, not sell a plan.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77240" y="2971800"/>
            <a:ext cx="10652760" cy="640080"/>
          </a:xfrm>
          <a:prstGeom prst="roundRect">
            <a:avLst>
              <a:gd name="adj" fmla="val 7143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1069848" y="315468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8A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Documentary hero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4251960" y="3172968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44"/>
              </a:lnSpc>
              <a:buNone/>
            </a:pPr>
            <a:r>
              <a:rPr lang="en-US" sz="120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 sentence from a real experience, not a value proposition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777240" y="3721608"/>
            <a:ext cx="10652760" cy="640080"/>
          </a:xfrm>
          <a:prstGeom prst="roundRect">
            <a:avLst>
              <a:gd name="adj" fmla="val 7143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1069848" y="3904488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8A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Recognition bridge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251960" y="3922776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44"/>
              </a:lnSpc>
              <a:buNone/>
            </a:pPr>
            <a:r>
              <a:rPr lang="en-US" sz="120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Names the pattern before it names the product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777240" y="4471416"/>
            <a:ext cx="10652760" cy="640080"/>
          </a:xfrm>
          <a:prstGeom prst="roundRect">
            <a:avLst>
              <a:gd name="adj" fmla="val 7143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1069848" y="4654296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8A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contextual doors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4251960" y="4672584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44"/>
              </a:lnSpc>
              <a:buNone/>
            </a:pPr>
            <a:r>
              <a:rPr lang="en-US" sz="120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my own · With someone · At work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77240" y="5221224"/>
            <a:ext cx="10652760" cy="640080"/>
          </a:xfrm>
          <a:prstGeom prst="roundRect">
            <a:avLst>
              <a:gd name="adj" fmla="val 7143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 txBox="1"/>
          <p:nvPr/>
        </p:nvSpPr>
        <p:spPr>
          <a:xfrm>
            <a:off x="1069848" y="5404104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8A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Roadmap only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4251960" y="5422392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44"/>
              </a:lnSpc>
              <a:buNone/>
            </a:pPr>
            <a:r>
              <a:rPr lang="en-US" sz="120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tracks appear as direction, never as product cards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594360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i="1" dirty="0">
                <a:solidFill>
                  <a:srgbClr val="A69F9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person arriving in distress reaches the protocol they came for without passing through a sales moment.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777240" y="6583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7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SafeRise Protocol · Business Development Assessment · September 2026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11137392" y="65836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A7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40" kern="0" dirty="0">
                <a:solidFill>
                  <a:srgbClr val="D8A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BUILD · MEMBER LAYER AND DEPTH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914400"/>
            <a:ext cx="10607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150"/>
              </a:lnSpc>
              <a:buNone/>
            </a:pPr>
            <a:r>
              <a:rPr lang="en-US" sz="30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onboarding cliff.</a:t>
            </a:r>
            <a:endParaRPr lang="en-US" sz="3000" dirty="0"/>
          </a:p>
          <a:p>
            <a:pPr indent="0" marL="0">
              <a:lnSpc>
                <a:spcPts val="3150"/>
              </a:lnSpc>
              <a:buNone/>
            </a:pPr>
            <a:r>
              <a:rPr lang="en-US" sz="30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Twelve resources behind every protocol.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77240" y="2514600"/>
            <a:ext cx="5120640" cy="2651760"/>
          </a:xfrm>
          <a:prstGeom prst="roundRect">
            <a:avLst>
              <a:gd name="adj" fmla="val 1724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1069848" y="2724912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D8A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member layer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069848" y="3127248"/>
            <a:ext cx="45720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633"/>
              </a:lnSpc>
              <a:spcAft>
                <a:spcPts val="700"/>
              </a:spcAft>
              <a:buSzPct val="100000"/>
              <a:buChar char="◇"/>
            </a:pPr>
            <a:r>
              <a:rPr lang="en-US" sz="115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ways in on the first screen — settle, continue, or answer two questions and be routed</a:t>
            </a:r>
            <a:endParaRPr lang="en-US" sz="1150" dirty="0"/>
          </a:p>
          <a:p>
            <a:pPr marL="342900" indent="-342900">
              <a:lnSpc>
                <a:spcPts val="1633"/>
              </a:lnSpc>
              <a:spcAft>
                <a:spcPts val="700"/>
              </a:spcAft>
              <a:buSzPct val="100000"/>
              <a:buChar char="◇"/>
            </a:pPr>
            <a:r>
              <a:rPr lang="en-US" sz="115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intake form, no labels, no assessment to finish before anything is useful</a:t>
            </a:r>
            <a:endParaRPr lang="en-US" sz="1150" dirty="0"/>
          </a:p>
          <a:p>
            <a:pPr marL="342900" indent="-342900">
              <a:lnSpc>
                <a:spcPts val="1633"/>
              </a:lnSpc>
              <a:spcAft>
                <a:spcPts val="700"/>
              </a:spcAft>
              <a:buSzPct val="100000"/>
              <a:buChar char="◇"/>
            </a:pPr>
            <a:r>
              <a:rPr lang="en-US" sz="115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management sits with account settings, away from protocol navigation</a:t>
            </a:r>
            <a:endParaRPr lang="en-US" sz="1150" dirty="0"/>
          </a:p>
          <a:p>
            <a:pPr marL="342900" indent="-342900">
              <a:lnSpc>
                <a:spcPts val="1633"/>
              </a:lnSpc>
              <a:spcAft>
                <a:spcPts val="700"/>
              </a:spcAft>
              <a:buSzPct val="100000"/>
              <a:buChar char="◇"/>
            </a:pPr>
            <a:r>
              <a:rPr lang="en-US" sz="115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record they build stays on their own device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6309360" y="2514600"/>
            <a:ext cx="5120640" cy="2651760"/>
          </a:xfrm>
          <a:prstGeom prst="roundRect">
            <a:avLst>
              <a:gd name="adj" fmla="val 1724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6601968" y="2724912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D8A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depth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6601968" y="3127248"/>
            <a:ext cx="45720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633"/>
              </a:lnSpc>
              <a:spcAft>
                <a:spcPts val="700"/>
              </a:spcAft>
              <a:buSzPct val="100000"/>
              <a:buChar char="◇"/>
            </a:pPr>
            <a:r>
              <a:rPr lang="en-US" sz="115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Guided session · somatic release · explanation · perspectives</a:t>
            </a:r>
            <a:endParaRPr lang="en-US" sz="1150" dirty="0"/>
          </a:p>
          <a:p>
            <a:pPr marL="342900" indent="-342900">
              <a:lnSpc>
                <a:spcPts val="1633"/>
              </a:lnSpc>
              <a:spcAft>
                <a:spcPts val="700"/>
              </a:spcAft>
              <a:buSzPct val="100000"/>
              <a:buChar char="◇"/>
            </a:pPr>
            <a:r>
              <a:rPr lang="en-US" sz="115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Cue card · disclosure language · private journal</a:t>
            </a:r>
            <a:endParaRPr lang="en-US" sz="1150" dirty="0"/>
          </a:p>
          <a:p>
            <a:pPr marL="342900" indent="-342900">
              <a:lnSpc>
                <a:spcPts val="1633"/>
              </a:lnSpc>
              <a:spcAft>
                <a:spcPts val="700"/>
              </a:spcAft>
              <a:buSzPct val="100000"/>
              <a:buChar char="◇"/>
            </a:pPr>
            <a:r>
              <a:rPr lang="en-US" sz="115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member who finishes one protocol finds eleven more things behind it</a:t>
            </a:r>
            <a:endParaRPr lang="en-US" sz="1150" dirty="0"/>
          </a:p>
          <a:p>
            <a:pPr marL="342900" indent="-342900">
              <a:lnSpc>
                <a:spcPts val="1633"/>
              </a:lnSpc>
              <a:spcAft>
                <a:spcPts val="700"/>
              </a:spcAft>
              <a:buSzPct val="100000"/>
              <a:buChar char="◇"/>
            </a:pPr>
            <a:r>
              <a:rPr lang="en-US" sz="115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Depth is the retention mechanism, not streaks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544068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D8A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</a:t>
            </a:r>
            <a:endParaRPr lang="en-US" sz="260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5961888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82"/>
              </a:lnSpc>
              <a:buNone/>
            </a:pPr>
            <a:r>
              <a:rPr lang="en-US" sz="110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protocols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3474720" y="544068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D8A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308</a:t>
            </a:r>
            <a:endParaRPr lang="en-US" sz="2600" dirty="0"/>
          </a:p>
        </p:txBody>
      </p:sp>
      <p:sp>
        <p:nvSpPr>
          <p:cNvPr id="13" name="Text 11"/>
          <p:cNvSpPr txBox="1"/>
          <p:nvPr/>
        </p:nvSpPr>
        <p:spPr>
          <a:xfrm>
            <a:off x="3474720" y="5961888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82"/>
              </a:lnSpc>
              <a:buNone/>
            </a:pPr>
            <a:r>
              <a:rPr lang="en-US" sz="110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resources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172200" y="544068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D8A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151,773</a:t>
            </a:r>
            <a:endParaRPr lang="en-US" sz="2600" dirty="0"/>
          </a:p>
        </p:txBody>
      </p:sp>
      <p:sp>
        <p:nvSpPr>
          <p:cNvPr id="15" name="Text 13"/>
          <p:cNvSpPr txBox="1"/>
          <p:nvPr/>
        </p:nvSpPr>
        <p:spPr>
          <a:xfrm>
            <a:off x="6172200" y="5961888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82"/>
              </a:lnSpc>
              <a:buNone/>
            </a:pPr>
            <a:r>
              <a:rPr lang="en-US" sz="110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words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8869680" y="544068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D8A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</a:t>
            </a:r>
            <a:endParaRPr lang="en-US" sz="2600" dirty="0"/>
          </a:p>
        </p:txBody>
      </p:sp>
      <p:sp>
        <p:nvSpPr>
          <p:cNvPr id="17" name="Text 15"/>
          <p:cNvSpPr txBox="1"/>
          <p:nvPr/>
        </p:nvSpPr>
        <p:spPr>
          <a:xfrm>
            <a:off x="8869680" y="5961888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82"/>
              </a:lnSpc>
              <a:buNone/>
            </a:pPr>
            <a:r>
              <a:rPr lang="en-US" sz="110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 assets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777240" y="6583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7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SafeRise Protocol · Business Development Assessment · September 2026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11137392" y="65836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A7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40" kern="0" dirty="0">
                <a:solidFill>
                  <a:srgbClr val="D8A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BUILD · BRAND SYSTEM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914400"/>
            <a:ext cx="10607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570"/>
              </a:lnSpc>
              <a:buNone/>
            </a:pPr>
            <a:r>
              <a:rPr lang="en-US" sz="34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visual language across every protocol.</a:t>
            </a:r>
            <a:endParaRPr lang="en-US" sz="3400" dirty="0"/>
          </a:p>
        </p:txBody>
      </p:sp>
      <p:pic>
        <p:nvPicPr>
          <p:cNvPr id="4" name="Image 0" descr="p_07403d6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240280"/>
            <a:ext cx="1636776" cy="221284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77240" y="2240280"/>
            <a:ext cx="1636776" cy="2212848"/>
          </a:xfrm>
          <a:prstGeom prst="rect">
            <a:avLst/>
          </a:prstGeom>
          <a:solidFill>
            <a:srgbClr val="0F1420">
              <a:alpha val="12000"/>
            </a:srgbClr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pic>
        <p:nvPicPr>
          <p:cNvPr id="6" name="Image 1" descr="p_07c063eb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42032" y="2240280"/>
            <a:ext cx="1636776" cy="2212848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2542032" y="2240280"/>
            <a:ext cx="1636776" cy="2212848"/>
          </a:xfrm>
          <a:prstGeom prst="rect">
            <a:avLst/>
          </a:prstGeom>
          <a:solidFill>
            <a:srgbClr val="0F1420">
              <a:alpha val="12000"/>
            </a:srgbClr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pic>
        <p:nvPicPr>
          <p:cNvPr id="8" name="Image 2" descr="p_53ce5c37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06824" y="2240280"/>
            <a:ext cx="1636776" cy="2212848"/>
          </a:xfrm>
          <a:prstGeom prst="rect">
            <a:avLst/>
          </a:prstGeom>
        </p:spPr>
      </p:pic>
      <p:sp>
        <p:nvSpPr>
          <p:cNvPr id="9" name="Shape 4"/>
          <p:cNvSpPr/>
          <p:nvPr/>
        </p:nvSpPr>
        <p:spPr>
          <a:xfrm>
            <a:off x="4306824" y="2240280"/>
            <a:ext cx="1636776" cy="2212848"/>
          </a:xfrm>
          <a:prstGeom prst="rect">
            <a:avLst/>
          </a:prstGeom>
          <a:solidFill>
            <a:srgbClr val="0F1420">
              <a:alpha val="12000"/>
            </a:srgbClr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pic>
        <p:nvPicPr>
          <p:cNvPr id="10" name="Image 3" descr="p_8d3fd5e5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71616" y="2240280"/>
            <a:ext cx="1636776" cy="2212848"/>
          </a:xfrm>
          <a:prstGeom prst="rect">
            <a:avLst/>
          </a:prstGeom>
        </p:spPr>
      </p:pic>
      <p:sp>
        <p:nvSpPr>
          <p:cNvPr id="11" name="Shape 5"/>
          <p:cNvSpPr/>
          <p:nvPr/>
        </p:nvSpPr>
        <p:spPr>
          <a:xfrm>
            <a:off x="6071616" y="2240280"/>
            <a:ext cx="1636776" cy="2212848"/>
          </a:xfrm>
          <a:prstGeom prst="rect">
            <a:avLst/>
          </a:prstGeom>
          <a:solidFill>
            <a:srgbClr val="0F1420">
              <a:alpha val="12000"/>
            </a:srgbClr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pic>
        <p:nvPicPr>
          <p:cNvPr id="12" name="Image 4" descr="p_97f40754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36408" y="2240280"/>
            <a:ext cx="1636776" cy="2212848"/>
          </a:xfrm>
          <a:prstGeom prst="rect">
            <a:avLst/>
          </a:prstGeom>
        </p:spPr>
      </p:pic>
      <p:sp>
        <p:nvSpPr>
          <p:cNvPr id="13" name="Shape 6"/>
          <p:cNvSpPr/>
          <p:nvPr/>
        </p:nvSpPr>
        <p:spPr>
          <a:xfrm>
            <a:off x="7836408" y="2240280"/>
            <a:ext cx="1636776" cy="2212848"/>
          </a:xfrm>
          <a:prstGeom prst="rect">
            <a:avLst/>
          </a:prstGeom>
          <a:solidFill>
            <a:srgbClr val="0F1420">
              <a:alpha val="12000"/>
            </a:srgbClr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pic>
        <p:nvPicPr>
          <p:cNvPr id="14" name="Image 5" descr="p_fdc2de33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01200" y="2240280"/>
            <a:ext cx="1636776" cy="2212848"/>
          </a:xfrm>
          <a:prstGeom prst="rect">
            <a:avLst/>
          </a:prstGeom>
        </p:spPr>
      </p:pic>
      <p:sp>
        <p:nvSpPr>
          <p:cNvPr id="15" name="Shape 7"/>
          <p:cNvSpPr/>
          <p:nvPr/>
        </p:nvSpPr>
        <p:spPr>
          <a:xfrm>
            <a:off x="9601200" y="2240280"/>
            <a:ext cx="1636776" cy="2212848"/>
          </a:xfrm>
          <a:prstGeom prst="rect">
            <a:avLst/>
          </a:prstGeom>
          <a:solidFill>
            <a:srgbClr val="0F1420">
              <a:alpha val="12000"/>
            </a:srgbClr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16" name="Text 8"/>
          <p:cNvSpPr txBox="1"/>
          <p:nvPr/>
        </p:nvSpPr>
        <p:spPr>
          <a:xfrm>
            <a:off x="777240" y="4800600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6"/>
              </a:lnSpc>
              <a:buNone/>
            </a:pPr>
            <a:r>
              <a:rPr lang="en-US" sz="130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Transformation word, title, promise. A fixed four-level card hierarchy, a controlled palette per track, and image rules covering encoding, crop, representation and emotional accuracy — nothing enters the repository unchecked.</a:t>
            </a:r>
            <a:endParaRPr lang="en-US" sz="1300" dirty="0"/>
          </a:p>
        </p:txBody>
      </p:sp>
      <p:sp>
        <p:nvSpPr>
          <p:cNvPr id="17" name="Text 9"/>
          <p:cNvSpPr txBox="1"/>
          <p:nvPr/>
        </p:nvSpPr>
        <p:spPr>
          <a:xfrm>
            <a:off x="777240" y="571500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25"/>
              </a:lnSpc>
              <a:buNone/>
            </a:pPr>
            <a:r>
              <a:rPr lang="en-US" sz="1350" i="1" dirty="0">
                <a:solidFill>
                  <a:srgbClr val="A69F9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Six hundred images, one rulebook. A member recognises a protocol before they read its name, and a buyer sees a system rather than a collection.</a:t>
            </a:r>
            <a:endParaRPr lang="en-US" sz="1350" dirty="0"/>
          </a:p>
        </p:txBody>
      </p:sp>
      <p:sp>
        <p:nvSpPr>
          <p:cNvPr id="18" name="Text 10"/>
          <p:cNvSpPr txBox="1"/>
          <p:nvPr/>
        </p:nvSpPr>
        <p:spPr>
          <a:xfrm>
            <a:off x="777240" y="6583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7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SafeRise Protocol · Business Development Assessment · September 2026</a:t>
            </a:r>
            <a:endParaRPr lang="en-US" sz="900" dirty="0"/>
          </a:p>
        </p:txBody>
      </p:sp>
      <p:sp>
        <p:nvSpPr>
          <p:cNvPr id="19" name="Text 11"/>
          <p:cNvSpPr txBox="1"/>
          <p:nvPr/>
        </p:nvSpPr>
        <p:spPr>
          <a:xfrm>
            <a:off x="11137392" y="65836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A7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40" kern="0" dirty="0">
                <a:solidFill>
                  <a:srgbClr val="D8A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CONSUMER SEGMENTATION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914400"/>
            <a:ext cx="10607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570"/>
              </a:lnSpc>
              <a:buNone/>
            </a:pPr>
            <a:r>
              <a:rPr lang="en-US" sz="34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Purchase events, not personas.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214884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87"/>
              </a:lnSpc>
              <a:buNone/>
            </a:pPr>
            <a:r>
              <a:rPr lang="en-US" sz="135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do not buy regulation because they find nervous systems interesting. They buy at a moment — and the moment selects the track.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777240" y="2670048"/>
            <a:ext cx="10652760" cy="475488"/>
          </a:xfrm>
          <a:prstGeom prst="roundRect">
            <a:avLst>
              <a:gd name="adj" fmla="val 9615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1051560" y="27889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8A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Rupture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2788920" y="2807208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63"/>
              </a:lnSpc>
              <a:buNone/>
            </a:pPr>
            <a:r>
              <a:rPr lang="en-US" sz="115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relationship breaks, or nearly does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8641080" y="278892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Relationship Healing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777240" y="3218688"/>
            <a:ext cx="10652760" cy="475488"/>
          </a:xfrm>
          <a:prstGeom prst="roundRect">
            <a:avLst>
              <a:gd name="adj" fmla="val 9615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1051560" y="333756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8A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Escalation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2788920" y="3355848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63"/>
              </a:lnSpc>
              <a:buNone/>
            </a:pPr>
            <a:r>
              <a:rPr lang="en-US" sz="115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Anxiety, anger or shutdown becomes unmanageable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8641080" y="333756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 Transformation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777240" y="3767328"/>
            <a:ext cx="10652760" cy="475488"/>
          </a:xfrm>
          <a:prstGeom prst="roundRect">
            <a:avLst>
              <a:gd name="adj" fmla="val 9615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1051560" y="38862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8A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Exposure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2788920" y="3904488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63"/>
              </a:lnSpc>
              <a:buNone/>
            </a:pPr>
            <a:r>
              <a:rPr lang="en-US" sz="115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Promotion, visibility, a room that judges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8641080" y="388620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Professional Performance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777240" y="4315968"/>
            <a:ext cx="10652760" cy="475488"/>
          </a:xfrm>
          <a:prstGeom prst="roundRect">
            <a:avLst>
              <a:gd name="adj" fmla="val 9615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 txBox="1"/>
          <p:nvPr/>
        </p:nvSpPr>
        <p:spPr>
          <a:xfrm>
            <a:off x="1051560" y="443484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8A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Depletion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2788920" y="4453128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63"/>
              </a:lnSpc>
              <a:buNone/>
            </a:pPr>
            <a:r>
              <a:rPr lang="en-US" sz="115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Burnout, decision fatigue, arrival that feels like nothing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8641080" y="443484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Professional · Elevation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777240" y="4864608"/>
            <a:ext cx="10652760" cy="475488"/>
          </a:xfrm>
          <a:prstGeom prst="roundRect">
            <a:avLst>
              <a:gd name="adj" fmla="val 9615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22" name="Text 20"/>
          <p:cNvSpPr txBox="1"/>
          <p:nvPr/>
        </p:nvSpPr>
        <p:spPr>
          <a:xfrm>
            <a:off x="1051560" y="498348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8A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Transition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2788920" y="5001768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63"/>
              </a:lnSpc>
              <a:buNone/>
            </a:pPr>
            <a:r>
              <a:rPr lang="en-US" sz="115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parent, separation, relocation, career change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8641080" y="498348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 tracks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777240" y="5413248"/>
            <a:ext cx="10652760" cy="475488"/>
          </a:xfrm>
          <a:prstGeom prst="roundRect">
            <a:avLst>
              <a:gd name="adj" fmla="val 9615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26" name="Text 24"/>
          <p:cNvSpPr txBox="1"/>
          <p:nvPr/>
        </p:nvSpPr>
        <p:spPr>
          <a:xfrm>
            <a:off x="1051560" y="55321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8A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Identity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2788920" y="5550408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63"/>
              </a:lnSpc>
              <a:buNone/>
            </a:pPr>
            <a:r>
              <a:rPr lang="en-US" sz="115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Intimacy, discipline, the body, money</a:t>
            </a:r>
            <a:endParaRPr lang="en-US" sz="1150" dirty="0"/>
          </a:p>
        </p:txBody>
      </p:sp>
      <p:sp>
        <p:nvSpPr>
          <p:cNvPr id="28" name="Text 26"/>
          <p:cNvSpPr txBox="1"/>
          <p:nvPr/>
        </p:nvSpPr>
        <p:spPr>
          <a:xfrm>
            <a:off x="8641080" y="553212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roadmap tracks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777240" y="589788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75"/>
              </a:lnSpc>
              <a:buNone/>
            </a:pPr>
            <a:r>
              <a:rPr lang="en-US" sz="1250" i="1" dirty="0">
                <a:solidFill>
                  <a:srgbClr val="A69F9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Each event recurs across a life. Someone who arrives at rupture returns at exposure — which is what makes cumulative access the correct commercial architecture.</a:t>
            </a:r>
            <a:endParaRPr lang="en-US" sz="1250" dirty="0"/>
          </a:p>
        </p:txBody>
      </p:sp>
      <p:sp>
        <p:nvSpPr>
          <p:cNvPr id="30" name="Text 28"/>
          <p:cNvSpPr txBox="1"/>
          <p:nvPr/>
        </p:nvSpPr>
        <p:spPr>
          <a:xfrm>
            <a:off x="777240" y="6583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7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SafeRise Protocol · Business Development Assessment · September 2026</a:t>
            </a:r>
            <a:endParaRPr lang="en-US" sz="900" dirty="0"/>
          </a:p>
        </p:txBody>
      </p:sp>
      <p:sp>
        <p:nvSpPr>
          <p:cNvPr id="31" name="Text 29"/>
          <p:cNvSpPr txBox="1"/>
          <p:nvPr/>
        </p:nvSpPr>
        <p:spPr>
          <a:xfrm>
            <a:off x="11137392" y="65836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A7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40" kern="0" dirty="0">
                <a:solidFill>
                  <a:srgbClr val="D8A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ARCHITECTURE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914400"/>
            <a:ext cx="10607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570"/>
              </a:lnSpc>
              <a:buNone/>
            </a:pPr>
            <a:r>
              <a:rPr lang="en-US" sz="34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streams. Four buyers. One asset.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777240" y="2084832"/>
            <a:ext cx="10652760" cy="822960"/>
          </a:xfrm>
          <a:prstGeom prst="roundRect">
            <a:avLst>
              <a:gd name="adj" fmla="val 5556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1051560" y="2203704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Subscription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2523744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7A7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B2C individual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3429000" y="2221992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8A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Track 01 free · €19 Tracks 02–04 · €29 all eight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3429000" y="2542032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82"/>
              </a:lnSpc>
              <a:buNone/>
            </a:pPr>
            <a:r>
              <a:rPr lang="en-US" sz="110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at ten months — €190 and €290. Adding a track inside a tier never costs more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9372600" y="235915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Compounds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777240" y="2980944"/>
            <a:ext cx="10652760" cy="822960"/>
          </a:xfrm>
          <a:prstGeom prst="roundRect">
            <a:avLst>
              <a:gd name="adj" fmla="val 5556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1051560" y="3099816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Premium 1:1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051560" y="3419856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7A7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B2C high-intent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3429000" y="3118104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8A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€129 · €349 for three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429000" y="3438144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82"/>
              </a:lnSpc>
              <a:buNone/>
            </a:pPr>
            <a:r>
              <a:rPr lang="en-US" sz="110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 rate €79 · €199 while the market is tested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9372600" y="3255264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Calendar-capped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777240" y="3877056"/>
            <a:ext cx="10652760" cy="822960"/>
          </a:xfrm>
          <a:prstGeom prst="roundRect">
            <a:avLst>
              <a:gd name="adj" fmla="val 5556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1051560" y="399592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Workshops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051560" y="431596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7A7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B2C community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3429000" y="4014216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8A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€29 single · €39 per couple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3429000" y="4334256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82"/>
              </a:lnSpc>
              <a:buNone/>
            </a:pPr>
            <a:r>
              <a:rPr lang="en-US" sz="110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Remote. Global reach, no venue cost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9372600" y="4151376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Calendar-capped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777240" y="4773168"/>
            <a:ext cx="10652760" cy="822960"/>
          </a:xfrm>
          <a:prstGeom prst="roundRect">
            <a:avLst>
              <a:gd name="adj" fmla="val 5556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 txBox="1"/>
          <p:nvPr/>
        </p:nvSpPr>
        <p:spPr>
          <a:xfrm>
            <a:off x="1051560" y="489204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Organisations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1051560" y="521208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7A7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B2B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3429000" y="491032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8A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 · retreat · annual access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3429000" y="5230368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82"/>
              </a:lnSpc>
              <a:buNone/>
            </a:pPr>
            <a:r>
              <a:rPr lang="en-US" sz="110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size of organisation, waterfall tiered. Never by usage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9372600" y="5047488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Lumpy, high value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777240" y="5779008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44"/>
              </a:lnSpc>
              <a:buNone/>
            </a:pPr>
            <a:r>
              <a:rPr lang="en-US" sz="120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content asset serves all four. A protocol written once is sold to an individual, delivered in a session, taught in a workshop and licensed to an employer — with no additional production cost.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777240" y="6089904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1"/>
              </a:lnSpc>
              <a:buNone/>
            </a:pPr>
            <a:r>
              <a:rPr lang="en-US" sz="1050" dirty="0">
                <a:solidFill>
                  <a:srgbClr val="7A7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€29 tier opens as the library doubles in month four, at €290 a year.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777240" y="6583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7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SafeRise Protocol · Business Development Assessment · September 2026</a:t>
            </a:r>
            <a:endParaRPr lang="en-US" sz="900" dirty="0"/>
          </a:p>
        </p:txBody>
      </p:sp>
      <p:sp>
        <p:nvSpPr>
          <p:cNvPr id="31" name="Text 29"/>
          <p:cNvSpPr txBox="1"/>
          <p:nvPr/>
        </p:nvSpPr>
        <p:spPr>
          <a:xfrm>
            <a:off x="11137392" y="65836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A7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40" kern="0" dirty="0">
                <a:solidFill>
                  <a:srgbClr val="D8A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 SEAT INCLUDES — NEW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914400"/>
            <a:ext cx="10607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570"/>
              </a:lnSpc>
              <a:buNone/>
            </a:pPr>
            <a:r>
              <a:rPr lang="en-US" sz="34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whole library. Plus what is yours.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777240" y="2194560"/>
            <a:ext cx="10652760" cy="1783080"/>
          </a:xfrm>
          <a:prstGeom prst="roundRect">
            <a:avLst>
              <a:gd name="adj" fmla="val 2564"/>
            </a:avLst>
          </a:prstGeom>
          <a:solidFill>
            <a:srgbClr val="1C2236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1051560" y="237744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80" kern="0" dirty="0">
                <a:solidFill>
                  <a:srgbClr val="D8A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LIBRARY · EVERY MEMBER, EVERY ORGANISATIONAL SEAT</a:t>
            </a:r>
            <a:endParaRPr lang="en-US" sz="95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2743200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Personal Transformation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2743200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Professional Performance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263640" y="2743200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Relationship Healing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8869680" y="2743200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69F9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Executive Presence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8869680" y="2980944"/>
            <a:ext cx="2514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7A7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development</a:t>
            </a:r>
            <a:endParaRPr lang="en-US" sz="850" dirty="0"/>
          </a:p>
        </p:txBody>
      </p:sp>
      <p:sp>
        <p:nvSpPr>
          <p:cNvPr id="11" name="Text 9"/>
          <p:cNvSpPr txBox="1"/>
          <p:nvPr/>
        </p:nvSpPr>
        <p:spPr>
          <a:xfrm>
            <a:off x="1051560" y="3337560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69F9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Sleep &amp; Recovery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051560" y="3575304"/>
            <a:ext cx="2514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7A7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development</a:t>
            </a:r>
            <a:endParaRPr lang="en-US" sz="850" dirty="0"/>
          </a:p>
        </p:txBody>
      </p:sp>
      <p:sp>
        <p:nvSpPr>
          <p:cNvPr id="13" name="Text 11"/>
          <p:cNvSpPr txBox="1"/>
          <p:nvPr/>
        </p:nvSpPr>
        <p:spPr>
          <a:xfrm>
            <a:off x="3657600" y="3337560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69F9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Embodied Nutrition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3575304"/>
            <a:ext cx="2514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7A7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development</a:t>
            </a:r>
            <a:endParaRPr lang="en-US" sz="850" dirty="0"/>
          </a:p>
        </p:txBody>
      </p:sp>
      <p:sp>
        <p:nvSpPr>
          <p:cNvPr id="15" name="Text 13"/>
          <p:cNvSpPr txBox="1"/>
          <p:nvPr/>
        </p:nvSpPr>
        <p:spPr>
          <a:xfrm>
            <a:off x="6263640" y="3337560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69F9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Strength &amp; Return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6263640" y="3575304"/>
            <a:ext cx="2514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7A7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development</a:t>
            </a:r>
            <a:endParaRPr lang="en-US" sz="850" dirty="0"/>
          </a:p>
        </p:txBody>
      </p:sp>
      <p:sp>
        <p:nvSpPr>
          <p:cNvPr id="17" name="Text 15"/>
          <p:cNvSpPr txBox="1"/>
          <p:nvPr/>
        </p:nvSpPr>
        <p:spPr>
          <a:xfrm>
            <a:off x="8869680" y="3337560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69F9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Elevation Series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8869680" y="3575304"/>
            <a:ext cx="2514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7A7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development</a:t>
            </a:r>
            <a:endParaRPr lang="en-US" sz="850" dirty="0"/>
          </a:p>
        </p:txBody>
      </p:sp>
      <p:sp>
        <p:nvSpPr>
          <p:cNvPr id="19" name="Text 17"/>
          <p:cNvSpPr txBox="1"/>
          <p:nvPr/>
        </p:nvSpPr>
        <p:spPr>
          <a:xfrm>
            <a:off x="777240" y="4206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D8A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</a:t>
            </a:r>
            <a:endParaRPr lang="en-US" sz="2600" dirty="0"/>
          </a:p>
        </p:txBody>
      </p:sp>
      <p:sp>
        <p:nvSpPr>
          <p:cNvPr id="20" name="Text 18"/>
          <p:cNvSpPr txBox="1"/>
          <p:nvPr/>
        </p:nvSpPr>
        <p:spPr>
          <a:xfrm>
            <a:off x="1325880" y="422452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Curated by sector</a:t>
            </a:r>
            <a:endParaRPr lang="en-US" sz="1900" dirty="0"/>
          </a:p>
        </p:txBody>
      </p:sp>
      <p:sp>
        <p:nvSpPr>
          <p:cNvPr id="21" name="Text 19"/>
          <p:cNvSpPr txBox="1"/>
          <p:nvPr/>
        </p:nvSpPr>
        <p:spPr>
          <a:xfrm>
            <a:off x="1325880" y="466344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25"/>
              </a:lnSpc>
              <a:buNone/>
            </a:pPr>
            <a:r>
              <a:rPr lang="en-US" sz="125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Healthcare and emergency · Finance, legal and professional services · Technology and engineering · Manufacturing and logistics · Sales and client-facing · Leadership and people managers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777240" y="544068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25"/>
              </a:lnSpc>
              <a:buNone/>
            </a:pPr>
            <a:r>
              <a:rPr lang="en-US" sz="1350" i="1" dirty="0">
                <a:solidFill>
                  <a:srgbClr val="A69F9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Each sector gets a different route through the same library, and the facilitated sessions follow that route. Nobody has to predict who needs what — a person whose strain changes does not need a different licence.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777240" y="6583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7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SafeRise Protocol · Business Development Assessment · September 2026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11137392" y="65836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A7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40" kern="0" dirty="0">
                <a:solidFill>
                  <a:srgbClr val="D8A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CORPORATE ENGINE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914400"/>
            <a:ext cx="10607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570"/>
              </a:lnSpc>
              <a:buNone/>
            </a:pPr>
            <a:r>
              <a:rPr lang="en-US" sz="34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seller already knows this buyer.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2194560"/>
            <a:ext cx="6400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87"/>
              </a:lnSpc>
              <a:buNone/>
            </a:pPr>
            <a:r>
              <a:rPr lang="en-US" sz="135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SafeRise’s corporate offer is an employee-experience product — the exact category sold for a decade. Jamf: employee technology enablement. HashiCorp: IT operations. Both into HR, IT and Operations committees, through procurement and legal, at five and six figures.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3611880"/>
            <a:ext cx="6400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50"/>
              </a:lnSpc>
              <a:buNone/>
            </a:pPr>
            <a:r>
              <a:rPr lang="en-US" sz="1500" i="1" dirty="0">
                <a:solidFill>
                  <a:srgbClr val="A69F9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 a new market. A different product into a buyer and a buying process already understood.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635240" y="2286000"/>
            <a:ext cx="3794760" cy="822960"/>
          </a:xfrm>
          <a:prstGeom prst="roundRect">
            <a:avLst>
              <a:gd name="adj" fmla="val 5556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7909560" y="246888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D8A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470+</a:t>
            </a: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9601200" y="25603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82"/>
              </a:lnSpc>
              <a:buNone/>
            </a:pPr>
            <a:r>
              <a:rPr lang="en-US" sz="110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logos acquired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7635240" y="3200400"/>
            <a:ext cx="3794760" cy="822960"/>
          </a:xfrm>
          <a:prstGeom prst="roundRect">
            <a:avLst>
              <a:gd name="adj" fmla="val 5556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7909560" y="338328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D8A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360+</a:t>
            </a:r>
            <a:endParaRPr lang="en-US" sz="2400" dirty="0"/>
          </a:p>
        </p:txBody>
      </p:sp>
      <p:sp>
        <p:nvSpPr>
          <p:cNvPr id="11" name="Text 9"/>
          <p:cNvSpPr txBox="1"/>
          <p:nvPr/>
        </p:nvSpPr>
        <p:spPr>
          <a:xfrm>
            <a:off x="9601200" y="34747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82"/>
              </a:lnSpc>
              <a:buNone/>
            </a:pPr>
            <a:r>
              <a:rPr lang="en-US" sz="110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territory built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635240" y="4114800"/>
            <a:ext cx="3794760" cy="822960"/>
          </a:xfrm>
          <a:prstGeom prst="roundRect">
            <a:avLst>
              <a:gd name="adj" fmla="val 5556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7909560" y="429768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D8A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€5M+</a:t>
            </a:r>
            <a:endParaRPr lang="en-US" sz="2400" dirty="0"/>
          </a:p>
        </p:txBody>
      </p:sp>
      <p:sp>
        <p:nvSpPr>
          <p:cNvPr id="14" name="Text 12"/>
          <p:cNvSpPr txBox="1"/>
          <p:nvPr/>
        </p:nvSpPr>
        <p:spPr>
          <a:xfrm>
            <a:off x="9601200" y="43891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82"/>
              </a:lnSpc>
              <a:buNone/>
            </a:pPr>
            <a:r>
              <a:rPr lang="en-US" sz="110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 delivered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777240" y="443484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 are forbidden from promising results.</a:t>
            </a:r>
            <a:endParaRPr lang="en-US" sz="2200" dirty="0"/>
          </a:p>
        </p:txBody>
      </p:sp>
      <p:sp>
        <p:nvSpPr>
          <p:cNvPr id="16" name="Text 14"/>
          <p:cNvSpPr txBox="1"/>
          <p:nvPr/>
        </p:nvSpPr>
        <p:spPr>
          <a:xfrm>
            <a:off x="777240" y="493776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6"/>
              </a:lnSpc>
              <a:buNone/>
            </a:pPr>
            <a:r>
              <a:rPr lang="en-US" sz="130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Productivity, optimise, efficiency, output, performance target — the words an HR buyer uses to justify a budget line — are prohibited. We do not break the rule. We sell four things that are true instead: a defined facilitated day · privacy by architecture · verifiable qualification · and the refusal itself.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594360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25"/>
              </a:lnSpc>
              <a:buNone/>
            </a:pPr>
            <a:r>
              <a:rPr lang="en-US" sz="1350" i="1" dirty="0">
                <a:solidFill>
                  <a:srgbClr val="A69F9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warm network already exists. Reactivating it is the highest-yield channel available, and it costs nothing.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777240" y="6583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7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SafeRise Protocol · Business Development Assessment · September 2026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11137392" y="65836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A7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40" kern="0" dirty="0">
                <a:solidFill>
                  <a:srgbClr val="D8A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PROGRAMME ARCHITECTURE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914400"/>
            <a:ext cx="10607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360"/>
              </a:lnSpc>
              <a:buNone/>
            </a:pPr>
            <a:r>
              <a:rPr lang="en-US" sz="32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buyers. Three budgets.</a:t>
            </a:r>
            <a:endParaRPr lang="en-US" sz="3200" dirty="0"/>
          </a:p>
          <a:p>
            <a:pPr indent="0" marL="0">
              <a:lnSpc>
                <a:spcPts val="3360"/>
              </a:lnSpc>
              <a:buNone/>
            </a:pPr>
            <a:r>
              <a:rPr lang="en-US" sz="32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account.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210312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87"/>
              </a:lnSpc>
              <a:buNone/>
            </a:pPr>
            <a:r>
              <a:rPr lang="en-US" sz="135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corporate offer is not one product sold to one department. It is three, on three separate budget lines — and the second and third do not depend on the first being bought.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777240" y="2788920"/>
            <a:ext cx="10652760" cy="932688"/>
          </a:xfrm>
          <a:prstGeom prst="roundRect">
            <a:avLst>
              <a:gd name="adj" fmla="val 4902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1069848" y="297180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8A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Preventative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069848" y="3355848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82"/>
              </a:lnSpc>
              <a:buNone/>
            </a:pPr>
            <a:r>
              <a:rPr lang="en-US" sz="110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provision for the whole population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4526280" y="3008376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 · Chief People Officer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4526280" y="3337560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40" kern="0" dirty="0">
                <a:solidFill>
                  <a:srgbClr val="7A7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Buyer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8549640" y="300837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Wellbeing budget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8549640" y="333756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40" kern="0" dirty="0">
                <a:solidFill>
                  <a:srgbClr val="7A7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777240" y="3813048"/>
            <a:ext cx="10652760" cy="932688"/>
          </a:xfrm>
          <a:prstGeom prst="roundRect">
            <a:avLst>
              <a:gd name="adj" fmla="val 4902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1069848" y="3995928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4E9AA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Professional performance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1069848" y="4379976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82"/>
              </a:lnSpc>
              <a:buNone/>
            </a:pPr>
            <a:r>
              <a:rPr lang="en-US" sz="110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Capability under pressure, department-specific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526280" y="403250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VP Sales · VP Engineering · Head of Trading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4526280" y="4361688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40" kern="0" dirty="0">
                <a:solidFill>
                  <a:srgbClr val="7A7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Buyer</a:t>
            </a:r>
            <a:endParaRPr lang="en-US" sz="850" dirty="0"/>
          </a:p>
        </p:txBody>
      </p:sp>
      <p:sp>
        <p:nvSpPr>
          <p:cNvPr id="17" name="Text 15"/>
          <p:cNvSpPr txBox="1"/>
          <p:nvPr/>
        </p:nvSpPr>
        <p:spPr>
          <a:xfrm>
            <a:off x="8549640" y="403250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Enablement or departmental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8549640" y="436168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40" kern="0" dirty="0">
                <a:solidFill>
                  <a:srgbClr val="7A7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777240" y="4837176"/>
            <a:ext cx="10652760" cy="932688"/>
          </a:xfrm>
          <a:prstGeom prst="roundRect">
            <a:avLst>
              <a:gd name="adj" fmla="val 4902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 txBox="1"/>
          <p:nvPr/>
        </p:nvSpPr>
        <p:spPr>
          <a:xfrm>
            <a:off x="1069848" y="5020056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7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Acute recovery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1069848" y="5404104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82"/>
              </a:lnSpc>
              <a:buNone/>
            </a:pPr>
            <a:r>
              <a:rPr lang="en-US" sz="110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 after an incident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4526280" y="505663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C-suite · Chief Legal · Chief Risk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4526280" y="5385816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40" kern="0" dirty="0">
                <a:solidFill>
                  <a:srgbClr val="7A7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Buyer</a:t>
            </a:r>
            <a:endParaRPr lang="en-US" sz="850" dirty="0"/>
          </a:p>
        </p:txBody>
      </p:sp>
      <p:sp>
        <p:nvSpPr>
          <p:cNvPr id="24" name="Text 22"/>
          <p:cNvSpPr txBox="1"/>
          <p:nvPr/>
        </p:nvSpPr>
        <p:spPr>
          <a:xfrm>
            <a:off x="8549640" y="505663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Operational or risk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8549640" y="5385816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40" kern="0" dirty="0">
                <a:solidFill>
                  <a:srgbClr val="7A7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</a:t>
            </a:r>
            <a:endParaRPr lang="en-US" sz="850" dirty="0"/>
          </a:p>
        </p:txBody>
      </p:sp>
      <p:sp>
        <p:nvSpPr>
          <p:cNvPr id="26" name="Text 24"/>
          <p:cNvSpPr txBox="1"/>
          <p:nvPr/>
        </p:nvSpPr>
        <p:spPr>
          <a:xfrm>
            <a:off x="777240" y="5925312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75"/>
              </a:lnSpc>
              <a:buNone/>
            </a:pPr>
            <a:r>
              <a:rPr lang="en-US" sz="1250" i="1" dirty="0">
                <a:solidFill>
                  <a:srgbClr val="A69F9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middle tier bypasses HR entirely. A VP of Engineering with an on-call problem has their own budget and does not need a wellbeing mandate to spend it.</a:t>
            </a:r>
            <a:endParaRPr lang="en-US" sz="1250" dirty="0"/>
          </a:p>
        </p:txBody>
      </p:sp>
      <p:sp>
        <p:nvSpPr>
          <p:cNvPr id="27" name="Text 25"/>
          <p:cNvSpPr txBox="1"/>
          <p:nvPr/>
        </p:nvSpPr>
        <p:spPr>
          <a:xfrm>
            <a:off x="777240" y="6583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7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SafeRise Protocol · Business Development Assessment · September 2026</a:t>
            </a:r>
            <a:endParaRPr lang="en-US" sz="900" dirty="0"/>
          </a:p>
        </p:txBody>
      </p:sp>
      <p:sp>
        <p:nvSpPr>
          <p:cNvPr id="28" name="Text 26"/>
          <p:cNvSpPr txBox="1"/>
          <p:nvPr/>
        </p:nvSpPr>
        <p:spPr>
          <a:xfrm>
            <a:off x="11137392" y="65836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A7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work-band.jpg">    </p:cNvPr>
          <p:cNvPicPr>
            <a:picLocks noChangeAspect="1"/>
          </p:cNvPicPr>
          <p:nvPr/>
        </p:nvPicPr>
        <p:blipFill>
          <a:blip r:embed="rId1"/>
          <a:srcRect t="6000" b="13900"/>
          <a:stretch>
            <a:fillRect/>
          </a:stretch>
        </p:blipFill>
        <p:spPr>
          <a:xfrm>
            <a:off x="0" y="0"/>
            <a:ext cx="12188952" cy="265176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88952" cy="2651760"/>
          </a:xfrm>
          <a:prstGeom prst="rect">
            <a:avLst/>
          </a:prstGeom>
          <a:solidFill>
            <a:srgbClr val="0F1420">
              <a:alpha val="74000"/>
            </a:srgbClr>
          </a:solidFill>
          <a:ln/>
        </p:spPr>
        <p:txBody>
          <a:bodyPr/>
          <a:p/>
        </p:txBody>
      </p:sp>
      <p:sp>
        <p:nvSpPr>
          <p:cNvPr id="4" name="Shape 1"/>
          <p:cNvSpPr/>
          <p:nvPr/>
        </p:nvSpPr>
        <p:spPr>
          <a:xfrm>
            <a:off x="0" y="1920240"/>
            <a:ext cx="12188952" cy="731520"/>
          </a:xfrm>
          <a:prstGeom prst="rect">
            <a:avLst/>
          </a:prstGeom>
          <a:solidFill>
            <a:srgbClr val="0F1420">
              <a:alpha val="94000"/>
            </a:srgbClr>
          </a:solidFill>
          <a:ln/>
        </p:spPr>
        <p:txBody>
          <a:bodyPr/>
          <a:p/>
        </p:txBody>
      </p:sp>
      <p:sp>
        <p:nvSpPr>
          <p:cNvPr id="5" name="Text 2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40" kern="0" dirty="0">
                <a:solidFill>
                  <a:srgbClr val="D8A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MAP</a:t>
            </a:r>
            <a:endParaRPr lang="en-US" sz="1050" dirty="0"/>
          </a:p>
        </p:txBody>
      </p:sp>
      <p:sp>
        <p:nvSpPr>
          <p:cNvPr id="6" name="Text 3"/>
          <p:cNvSpPr txBox="1"/>
          <p:nvPr/>
        </p:nvSpPr>
        <p:spPr>
          <a:xfrm>
            <a:off x="777240" y="914400"/>
            <a:ext cx="10607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570"/>
              </a:lnSpc>
              <a:buNone/>
            </a:pPr>
            <a:r>
              <a:rPr lang="en-US" sz="34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the state is the job hazard.</a:t>
            </a:r>
            <a:endParaRPr lang="en-US" sz="3400" dirty="0"/>
          </a:p>
        </p:txBody>
      </p:sp>
      <p:sp>
        <p:nvSpPr>
          <p:cNvPr id="7" name="Shape 4"/>
          <p:cNvSpPr/>
          <p:nvPr/>
        </p:nvSpPr>
        <p:spPr>
          <a:xfrm>
            <a:off x="777240" y="2852928"/>
            <a:ext cx="10652760" cy="603504"/>
          </a:xfrm>
          <a:prstGeom prst="roundRect">
            <a:avLst>
              <a:gd name="adj" fmla="val 7576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1069848" y="3035808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40" kern="0" dirty="0">
                <a:solidFill>
                  <a:srgbClr val="4E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A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2148840" y="2990088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Financial services · Technology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6080760" y="2999232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20"/>
              </a:lnSpc>
              <a:buNone/>
            </a:pPr>
            <a:r>
              <a:rPr lang="en-US" sz="100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Hyper-arousal, chronic vigilance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8915400" y="2999232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39"/>
              </a:lnSpc>
              <a:buNone/>
            </a:pPr>
            <a:r>
              <a:rPr lang="en-US" sz="95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Fatigue · High-Stakes Presence · Burnout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777240" y="3529584"/>
            <a:ext cx="10652760" cy="603504"/>
          </a:xfrm>
          <a:prstGeom prst="roundRect">
            <a:avLst>
              <a:gd name="adj" fmla="val 7576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13" name="Text 10"/>
          <p:cNvSpPr txBox="1"/>
          <p:nvPr/>
        </p:nvSpPr>
        <p:spPr>
          <a:xfrm>
            <a:off x="1069848" y="3712464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40" kern="0" dirty="0">
                <a:solidFill>
                  <a:srgbClr val="D8A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B</a:t>
            </a:r>
            <a:endParaRPr lang="en-US" sz="950" dirty="0"/>
          </a:p>
        </p:txBody>
      </p:sp>
      <p:sp>
        <p:nvSpPr>
          <p:cNvPr id="14" name="Text 11"/>
          <p:cNvSpPr txBox="1"/>
          <p:nvPr/>
        </p:nvSpPr>
        <p:spPr>
          <a:xfrm>
            <a:off x="2148840" y="3666744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Healthcare · Legal · Mental health · Social care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6080760" y="3675888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20"/>
              </a:lnSpc>
              <a:buNone/>
            </a:pPr>
            <a:r>
              <a:rPr lang="en-US" sz="100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Shutdown, compassion fatigue, exposure</a:t>
            </a:r>
            <a:endParaRPr lang="en-US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8915400" y="3675888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39"/>
              </a:lnSpc>
              <a:buNone/>
            </a:pPr>
            <a:r>
              <a:rPr lang="en-US" sz="95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Shutdown Recovery · Grief Integration · Perfectionism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777240" y="4206240"/>
            <a:ext cx="10652760" cy="603504"/>
          </a:xfrm>
          <a:prstGeom prst="roundRect">
            <a:avLst>
              <a:gd name="adj" fmla="val 7576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18" name="Text 15"/>
          <p:cNvSpPr txBox="1"/>
          <p:nvPr/>
        </p:nvSpPr>
        <p:spPr>
          <a:xfrm>
            <a:off x="1069848" y="43891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40" kern="0" dirty="0">
                <a:solidFill>
                  <a:srgbClr val="E87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C</a:t>
            </a:r>
            <a:endParaRPr lang="en-US" sz="950" dirty="0"/>
          </a:p>
        </p:txBody>
      </p:sp>
      <p:sp>
        <p:nvSpPr>
          <p:cNvPr id="19" name="Text 16"/>
          <p:cNvSpPr txBox="1"/>
          <p:nvPr/>
        </p:nvSpPr>
        <p:spPr>
          <a:xfrm>
            <a:off x="2148840" y="434340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Aviation · Manufacturing · Logistics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6080760" y="4352544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20"/>
              </a:lnSpc>
              <a:buNone/>
            </a:pPr>
            <a:r>
              <a:rPr lang="en-US" sz="100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Cognitive overload, sustained arousal</a:t>
            </a:r>
            <a:endParaRPr lang="en-US" sz="1000" dirty="0"/>
          </a:p>
        </p:txBody>
      </p:sp>
      <p:sp>
        <p:nvSpPr>
          <p:cNvPr id="21" name="Text 18"/>
          <p:cNvSpPr txBox="1"/>
          <p:nvPr/>
        </p:nvSpPr>
        <p:spPr>
          <a:xfrm>
            <a:off x="8915400" y="4352544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39"/>
              </a:lnSpc>
              <a:buNone/>
            </a:pPr>
            <a:r>
              <a:rPr lang="en-US" sz="95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Fatigue · Overwhelm Threshold · Conflict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777240" y="4882896"/>
            <a:ext cx="10652760" cy="603504"/>
          </a:xfrm>
          <a:prstGeom prst="roundRect">
            <a:avLst>
              <a:gd name="adj" fmla="val 7576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23" name="Text 20"/>
          <p:cNvSpPr txBox="1"/>
          <p:nvPr/>
        </p:nvSpPr>
        <p:spPr>
          <a:xfrm>
            <a:off x="1069848" y="5065776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40" kern="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D</a:t>
            </a:r>
            <a:endParaRPr lang="en-US" sz="950" dirty="0"/>
          </a:p>
        </p:txBody>
      </p:sp>
      <p:sp>
        <p:nvSpPr>
          <p:cNvPr id="24" name="Text 21"/>
          <p:cNvSpPr txBox="1"/>
          <p:nvPr/>
        </p:nvSpPr>
        <p:spPr>
          <a:xfrm>
            <a:off x="2148840" y="5020056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Education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6080760" y="502920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20"/>
              </a:lnSpc>
              <a:buNone/>
            </a:pPr>
            <a:r>
              <a:rPr lang="en-US" sz="100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Budget-constrained, district licence reaches hundreds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8915400" y="502920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39"/>
              </a:lnSpc>
              <a:buNone/>
            </a:pPr>
            <a:r>
              <a:rPr lang="en-US" sz="95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Conflict Navigation · Burnout · Overwhelm</a:t>
            </a:r>
            <a:endParaRPr lang="en-US" sz="950" dirty="0"/>
          </a:p>
        </p:txBody>
      </p:sp>
      <p:sp>
        <p:nvSpPr>
          <p:cNvPr id="27" name="Shape 24"/>
          <p:cNvSpPr/>
          <p:nvPr/>
        </p:nvSpPr>
        <p:spPr>
          <a:xfrm>
            <a:off x="777240" y="5541264"/>
            <a:ext cx="10652760" cy="548640"/>
          </a:xfrm>
          <a:prstGeom prst="roundRect">
            <a:avLst>
              <a:gd name="adj" fmla="val 8333"/>
            </a:avLst>
          </a:prstGeom>
          <a:solidFill>
            <a:srgbClr val="1C2236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28" name="Text 25"/>
          <p:cNvSpPr txBox="1"/>
          <p:nvPr/>
        </p:nvSpPr>
        <p:spPr>
          <a:xfrm>
            <a:off x="1069848" y="57058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40" kern="0" dirty="0">
                <a:solidFill>
                  <a:srgbClr val="E87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HELD</a:t>
            </a:r>
            <a:endParaRPr lang="en-US" sz="950" dirty="0"/>
          </a:p>
        </p:txBody>
      </p:sp>
      <p:sp>
        <p:nvSpPr>
          <p:cNvPr id="29" name="Text 26"/>
          <p:cNvSpPr txBox="1"/>
          <p:nvPr/>
        </p:nvSpPr>
        <p:spPr>
          <a:xfrm>
            <a:off x="2148840" y="568756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Law enforcement · Fire · Military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6080760" y="5669280"/>
            <a:ext cx="5212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39"/>
              </a:lnSpc>
              <a:buNone/>
            </a:pPr>
            <a:r>
              <a:rPr lang="en-US" sz="95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Highest resonance, highest trauma exposure — and an empty clinical layer. Not sold until a licensed clinician is contracted.</a:t>
            </a:r>
            <a:endParaRPr lang="en-US" sz="950" dirty="0"/>
          </a:p>
        </p:txBody>
      </p:sp>
      <p:sp>
        <p:nvSpPr>
          <p:cNvPr id="31" name="Text 28"/>
          <p:cNvSpPr txBox="1"/>
          <p:nvPr/>
        </p:nvSpPr>
        <p:spPr>
          <a:xfrm>
            <a:off x="777240" y="6583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7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SafeRise Protocol · Business Development Assessment · September 2026</a:t>
            </a:r>
            <a:endParaRPr lang="en-US" sz="900" dirty="0"/>
          </a:p>
        </p:txBody>
      </p:sp>
      <p:sp>
        <p:nvSpPr>
          <p:cNvPr id="32" name="Text 29"/>
          <p:cNvSpPr txBox="1"/>
          <p:nvPr/>
        </p:nvSpPr>
        <p:spPr>
          <a:xfrm>
            <a:off x="11137392" y="65836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A7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40" kern="0" dirty="0">
                <a:solidFill>
                  <a:srgbClr val="D8A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SECTOR TRACKS ARE CHEAP TO BUILD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914400"/>
            <a:ext cx="10607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570"/>
              </a:lnSpc>
              <a:buNone/>
            </a:pPr>
            <a:r>
              <a:rPr lang="en-US" sz="34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base. A thin layer on top.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210312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87"/>
              </a:lnSpc>
              <a:buNone/>
            </a:pPr>
            <a:r>
              <a:rPr lang="en-US" sz="135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sector track is not a new product. It is ten protocols of sector-specific language and scenario on top of a base that is already written — roughly 30 to 55 per cent new writing.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777240" y="2834640"/>
            <a:ext cx="10652760" cy="914400"/>
          </a:xfrm>
          <a:prstGeom prst="roundRect">
            <a:avLst>
              <a:gd name="adj" fmla="val 5000"/>
            </a:avLst>
          </a:prstGeom>
          <a:solidFill>
            <a:srgbClr val="1C2236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1069848" y="299923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D8A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LAYER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3794760" y="3017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44"/>
              </a:lnSpc>
              <a:buNone/>
            </a:pPr>
            <a:r>
              <a:rPr lang="en-US" sz="120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 protocols · sector language and scenarios · 30–55% new writing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777240" y="3886200"/>
            <a:ext cx="10652760" cy="914400"/>
          </a:xfrm>
          <a:prstGeom prst="roundRect">
            <a:avLst>
              <a:gd name="adj" fmla="val 5000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1069848" y="405079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BASE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3794760" y="4069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44"/>
              </a:lnSpc>
              <a:buNone/>
            </a:pPr>
            <a:r>
              <a:rPr lang="en-US" sz="120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Thirty protocols · 308 resources · Recognise, Regulate, Release, Rise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507492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 — healthcare and emergency: four of the six needs are already written. Shutdown Recovery, Shame Dissolution, Grief Integration and Burnout &amp; Overload all exist. Only shift-disrupted sleep and exposure aftermath are new.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777240" y="598932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50"/>
              </a:lnSpc>
              <a:buNone/>
            </a:pPr>
            <a:r>
              <a:rPr lang="en-US" sz="1300" i="1" dirty="0">
                <a:solidFill>
                  <a:srgbClr val="A69F9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That is why a sector track costs €6,400–8,500 rather than a full build — and why each one improves the margin on every one after it.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777240" y="6583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7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SafeRise Protocol · Business Development Assessment · September 2026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11137392" y="65836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A7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40" kern="0" dirty="0">
                <a:solidFill>
                  <a:srgbClr val="D8A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CORPORATE OFFER LADDER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914400"/>
            <a:ext cx="10607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570"/>
              </a:lnSpc>
              <a:buNone/>
            </a:pPr>
            <a:r>
              <a:rPr lang="en-US" sz="34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Paid from the first room.</a:t>
            </a:r>
            <a:endParaRPr lang="en-US" sz="3400" dirty="0"/>
          </a:p>
        </p:txBody>
      </p:sp>
      <p:sp>
        <p:nvSpPr>
          <p:cNvPr id="9" name="Shape 7"/>
          <p:cNvSpPr/>
          <p:nvPr/>
        </p:nvSpPr>
        <p:spPr>
          <a:xfrm>
            <a:off x="777240" y="2148840"/>
            <a:ext cx="10652760" cy="658368"/>
          </a:xfrm>
          <a:prstGeom prst="roundRect">
            <a:avLst>
              <a:gd name="adj" fmla="val 6944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1069848" y="236829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D8A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1691640" y="236829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Organisation workshop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5166360" y="235000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8A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€1,800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7726680" y="2368296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1"/>
              </a:lnSpc>
              <a:buNone/>
            </a:pPr>
            <a:r>
              <a:rPr lang="en-US" sz="105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entry, and the first paid engagement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777240" y="2898648"/>
            <a:ext cx="10652760" cy="658368"/>
          </a:xfrm>
          <a:prstGeom prst="roundRect">
            <a:avLst>
              <a:gd name="adj" fmla="val 6944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 txBox="1"/>
          <p:nvPr/>
        </p:nvSpPr>
        <p:spPr>
          <a:xfrm>
            <a:off x="1069848" y="3118104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D8A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1691640" y="3118104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Half-day retreat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5166360" y="3099816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8A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€2,400 · €3,500 · scoped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7726680" y="311810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1"/>
              </a:lnSpc>
              <a:buNone/>
            </a:pPr>
            <a:r>
              <a:rPr lang="en-US" sz="105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50 · 51–120 · above 120 scoped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777240" y="3648456"/>
            <a:ext cx="10652760" cy="658368"/>
          </a:xfrm>
          <a:prstGeom prst="roundRect">
            <a:avLst>
              <a:gd name="adj" fmla="val 6944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 txBox="1"/>
          <p:nvPr/>
        </p:nvSpPr>
        <p:spPr>
          <a:xfrm>
            <a:off x="1069848" y="386791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D8A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700" dirty="0"/>
          </a:p>
        </p:txBody>
      </p:sp>
      <p:sp>
        <p:nvSpPr>
          <p:cNvPr id="21" name="Text 19"/>
          <p:cNvSpPr txBox="1"/>
          <p:nvPr/>
        </p:nvSpPr>
        <p:spPr>
          <a:xfrm>
            <a:off x="1691640" y="3867912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Annual access, all staff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5166360" y="3849624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8A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size of organisation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7726680" y="386791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1"/>
              </a:lnSpc>
              <a:buNone/>
            </a:pPr>
            <a:r>
              <a:rPr lang="en-US" sz="105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Waterfall tiered. The recurring line — never priced per seat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777240" y="4398264"/>
            <a:ext cx="10652760" cy="658368"/>
          </a:xfrm>
          <a:prstGeom prst="roundRect">
            <a:avLst>
              <a:gd name="adj" fmla="val 6944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 txBox="1"/>
          <p:nvPr/>
        </p:nvSpPr>
        <p:spPr>
          <a:xfrm>
            <a:off x="1069848" y="46177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D8A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700" dirty="0"/>
          </a:p>
        </p:txBody>
      </p:sp>
      <p:sp>
        <p:nvSpPr>
          <p:cNvPr id="26" name="Text 24"/>
          <p:cNvSpPr txBox="1"/>
          <p:nvPr/>
        </p:nvSpPr>
        <p:spPr>
          <a:xfrm>
            <a:off x="1691640" y="46177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Conference, festival, event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5166360" y="459943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8A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</a:t>
            </a:r>
            <a:endParaRPr lang="en-US" sz="1250" dirty="0"/>
          </a:p>
        </p:txBody>
      </p:sp>
      <p:sp>
        <p:nvSpPr>
          <p:cNvPr id="28" name="Text 26"/>
          <p:cNvSpPr txBox="1"/>
          <p:nvPr/>
        </p:nvSpPr>
        <p:spPr>
          <a:xfrm>
            <a:off x="7726680" y="46177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1"/>
              </a:lnSpc>
              <a:buNone/>
            </a:pPr>
            <a:r>
              <a:rPr lang="en-US" sz="105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Highest visibility, best lead source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777240" y="507492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75"/>
              </a:lnSpc>
              <a:buNone/>
            </a:pPr>
            <a:r>
              <a:rPr lang="en-US" sz="1250" i="1" dirty="0">
                <a:solidFill>
                  <a:srgbClr val="A69F9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Annual access is priced on total headcount and tiered as a waterfall, never by usage — so the privacy promise survives the pricing model completely. Per-seat pricing would require counting individual usage, which is the one thing the product refuses to do.</a:t>
            </a:r>
            <a:endParaRPr lang="en-US" sz="1250" dirty="0"/>
          </a:p>
        </p:txBody>
      </p:sp>
      <p:sp>
        <p:nvSpPr>
          <p:cNvPr id="30" name="Text 28"/>
          <p:cNvSpPr txBox="1"/>
          <p:nvPr/>
        </p:nvSpPr>
        <p:spPr>
          <a:xfrm>
            <a:off x="777240" y="6583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7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SafeRise Protocol · Business Development Assessment · September 2026</a:t>
            </a:r>
            <a:endParaRPr lang="en-US" sz="900" dirty="0"/>
          </a:p>
        </p:txBody>
      </p:sp>
      <p:sp>
        <p:nvSpPr>
          <p:cNvPr id="31" name="Text 29"/>
          <p:cNvSpPr txBox="1"/>
          <p:nvPr/>
        </p:nvSpPr>
        <p:spPr>
          <a:xfrm>
            <a:off x="11137392" y="65836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A7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40" kern="0" dirty="0">
                <a:solidFill>
                  <a:srgbClr val="D8A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 TO MARKET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914400"/>
            <a:ext cx="10607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570"/>
              </a:lnSpc>
              <a:buNone/>
            </a:pPr>
            <a:r>
              <a:rPr lang="en-US" sz="34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Give away the best work. Sell the depth.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2148840"/>
            <a:ext cx="10424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87"/>
              </a:lnSpc>
              <a:buNone/>
            </a:pPr>
            <a:r>
              <a:rPr lang="en-US" sz="135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01 becomes free — ten complete protocols, the broadest-appeal work on the platform, given away in full. Every operator in this segment leads with free and monetises depth; SafeRise had no entry point at all. And it needs no payment rail, so the free tier launches while merchant approval is still in process.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777240" y="3429000"/>
            <a:ext cx="10652760" cy="438912"/>
          </a:xfrm>
          <a:prstGeom prst="roundRect">
            <a:avLst>
              <a:gd name="adj" fmla="val 10417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1051560" y="351129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Warm network reactivation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4434840" y="3529584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1"/>
              </a:lnSpc>
              <a:buNone/>
            </a:pPr>
            <a:r>
              <a:rPr lang="en-US" sz="105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470+ named contacts, many now senior. Exists today. Costs nothing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10287000" y="3529584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D8A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Corporate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777240" y="3941064"/>
            <a:ext cx="10652760" cy="438912"/>
          </a:xfrm>
          <a:prstGeom prst="roundRect">
            <a:avLst>
              <a:gd name="adj" fmla="val 10417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1051560" y="402336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Outbound to European tech HR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4434840" y="4041648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1"/>
              </a:lnSpc>
              <a:buNone/>
            </a:pPr>
            <a:r>
              <a:rPr lang="en-US" sz="105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competence. Sequenced, MEDDICC-qualified, run as a real pipeline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10287000" y="404164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D8A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Corporate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777240" y="4453128"/>
            <a:ext cx="10652760" cy="438912"/>
          </a:xfrm>
          <a:prstGeom prst="roundRect">
            <a:avLst>
              <a:gd name="adj" fmla="val 10417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1051560" y="4535424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Free remote workshop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4434840" y="4553712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1"/>
              </a:lnSpc>
              <a:buNone/>
            </a:pPr>
            <a:r>
              <a:rPr lang="en-US" sz="105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Monthly. Feeds the free tier and fills 1:1 slots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10287000" y="4553712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D8A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Consumer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777240" y="4965192"/>
            <a:ext cx="10652760" cy="438912"/>
          </a:xfrm>
          <a:prstGeom prst="roundRect">
            <a:avLst>
              <a:gd name="adj" fmla="val 10417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 txBox="1"/>
          <p:nvPr/>
        </p:nvSpPr>
        <p:spPr>
          <a:xfrm>
            <a:off x="1051560" y="504748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Free track as the SEO asset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4434840" y="5065776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1"/>
              </a:lnSpc>
              <a:buNone/>
            </a:pPr>
            <a:r>
              <a:rPr lang="en-US" sz="105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 protocols of genuine content, once the site is indexed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10287000" y="5065776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D8A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Consumer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777240" y="5477256"/>
            <a:ext cx="10652760" cy="438912"/>
          </a:xfrm>
          <a:prstGeom prst="roundRect">
            <a:avLst>
              <a:gd name="adj" fmla="val 10417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22" name="Text 20"/>
          <p:cNvSpPr txBox="1"/>
          <p:nvPr/>
        </p:nvSpPr>
        <p:spPr>
          <a:xfrm>
            <a:off x="1051560" y="5559552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Speaking — HR and People events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4434840" y="5577840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1"/>
              </a:lnSpc>
              <a:buNone/>
            </a:pPr>
            <a:r>
              <a:rPr lang="en-US" sz="105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minutes in front of 40 decision-makers beats 100 emails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10287000" y="557784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D8A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Corporate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777240" y="5989320"/>
            <a:ext cx="10652760" cy="438912"/>
          </a:xfrm>
          <a:prstGeom prst="roundRect">
            <a:avLst>
              <a:gd name="adj" fmla="val 10417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26" name="Text 24"/>
          <p:cNvSpPr txBox="1"/>
          <p:nvPr/>
        </p:nvSpPr>
        <p:spPr>
          <a:xfrm>
            <a:off x="1051560" y="607161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Collaborator audiences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4434840" y="6053328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1"/>
              </a:lnSpc>
              <a:buNone/>
            </a:pPr>
            <a:r>
              <a:rPr lang="en-US" sz="105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Dwight’s audience and Aleksandra’s market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10287000" y="605332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D8A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</a:t>
            </a:r>
            <a:endParaRPr lang="en-US" sz="950" dirty="0"/>
          </a:p>
        </p:txBody>
      </p:sp>
      <p:sp>
        <p:nvSpPr>
          <p:cNvPr id="29" name="Text 27"/>
          <p:cNvSpPr txBox="1"/>
          <p:nvPr/>
        </p:nvSpPr>
        <p:spPr>
          <a:xfrm>
            <a:off x="777240" y="6199632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50"/>
              </a:lnSpc>
              <a:buNone/>
            </a:pPr>
            <a:r>
              <a:rPr lang="en-US" sz="1300" i="1" dirty="0">
                <a:solidFill>
                  <a:srgbClr val="A69F9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paid acquisition in year one. At this budget it measures nothing useful and buys nothing durable.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777240" y="6583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7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SafeRise Protocol · Business Development Assessment · September 2026</a:t>
            </a:r>
            <a:endParaRPr lang="en-US" sz="900" dirty="0"/>
          </a:p>
        </p:txBody>
      </p:sp>
      <p:sp>
        <p:nvSpPr>
          <p:cNvPr id="31" name="Text 29"/>
          <p:cNvSpPr txBox="1"/>
          <p:nvPr/>
        </p:nvSpPr>
        <p:spPr>
          <a:xfrm>
            <a:off x="11137392" y="65836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A7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40" kern="0" dirty="0">
                <a:solidFill>
                  <a:srgbClr val="D8A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NEXT SIXTY DAYS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914400"/>
            <a:ext cx="10607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570"/>
              </a:lnSpc>
              <a:buNone/>
            </a:pPr>
            <a:r>
              <a:rPr lang="en-US" sz="34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happens, and when.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777240" y="2212848"/>
            <a:ext cx="10652760" cy="694944"/>
          </a:xfrm>
          <a:prstGeom prst="roundRect">
            <a:avLst>
              <a:gd name="adj" fmla="val 6579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1069848" y="2432304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8A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 30 September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3063240" y="2423160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63"/>
              </a:lnSpc>
              <a:buNone/>
            </a:pPr>
            <a:r>
              <a:rPr lang="en-US" sz="115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Beta opens. Indexing switched on. All 31 meditations mastered and live. Payment rail live, or the free tier opens without it.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777240" y="2926080"/>
            <a:ext cx="10652760" cy="694944"/>
          </a:xfrm>
          <a:prstGeom prst="roundRect">
            <a:avLst>
              <a:gd name="adj" fmla="val 6579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1069848" y="314553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8A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Days 1–18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3063240" y="3136392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63"/>
              </a:lnSpc>
              <a:buNone/>
            </a:pPr>
            <a:r>
              <a:rPr lang="en-US" sz="115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cohort runs the protocols. Completion and return measured. First workshop filled.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77240" y="3639312"/>
            <a:ext cx="10652760" cy="694944"/>
          </a:xfrm>
          <a:prstGeom prst="roundRect">
            <a:avLst>
              <a:gd name="adj" fmla="val 6579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1069848" y="385876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8A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Days 19–32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3063240" y="3849624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63"/>
              </a:lnSpc>
              <a:buNone/>
            </a:pPr>
            <a:r>
              <a:rPr lang="en-US" sz="115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Workshop delivered. Testimonials captured. Payment tested end to end. First conversion number in hand.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77240" y="4352544"/>
            <a:ext cx="10652760" cy="694944"/>
          </a:xfrm>
          <a:prstGeom prst="roundRect">
            <a:avLst>
              <a:gd name="adj" fmla="val 6579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1069848" y="457200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8A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Days 33–45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3063240" y="4562856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63"/>
              </a:lnSpc>
              <a:buNone/>
            </a:pPr>
            <a:r>
              <a:rPr lang="en-US" sz="115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 A reviewed against the conversion and churn floors. First 1:1 sessions delivered.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77240" y="5065776"/>
            <a:ext cx="10652760" cy="694944"/>
          </a:xfrm>
          <a:prstGeom prst="roundRect">
            <a:avLst>
              <a:gd name="adj" fmla="val 6579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1069848" y="528523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8A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Days 46–60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3063240" y="5276088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63"/>
              </a:lnSpc>
              <a:buNone/>
            </a:pPr>
            <a:r>
              <a:rPr lang="en-US" sz="115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Corporate outreach opens with retention data in hand. Warm list worked. First organisation workshop scoped.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777240" y="5788152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50"/>
              </a:lnSpc>
              <a:buNone/>
            </a:pPr>
            <a:r>
              <a:rPr lang="en-US" sz="1300" i="1" dirty="0">
                <a:solidFill>
                  <a:srgbClr val="A69F9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free tier needs no external approval — the only part of this that nothing outside the business can hold up.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777240" y="6583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7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SafeRise Protocol · Business Development Assessment · September 2026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11137392" y="65836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A7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40" kern="0" dirty="0">
                <a:solidFill>
                  <a:srgbClr val="D8A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EXPANSION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914400"/>
            <a:ext cx="10607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570"/>
              </a:lnSpc>
              <a:buNone/>
            </a:pPr>
            <a:r>
              <a:rPr lang="en-US" sz="34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axes, both already specified.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777240" y="2286000"/>
            <a:ext cx="5120640" cy="2377440"/>
          </a:xfrm>
          <a:prstGeom prst="roundRect">
            <a:avLst>
              <a:gd name="adj" fmla="val 1923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1069848" y="25146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D8A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Vertical — six roadmap tracks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069848" y="292608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25"/>
              </a:lnSpc>
              <a:buNone/>
            </a:pPr>
            <a:r>
              <a:rPr lang="en-US" sz="125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Elevation Series · Sex &amp; Intimacy · Fitness Mindset · Addiction Recovery · Nutrition &amp; Body · Money Mindset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1069848" y="384048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63"/>
              </a:lnSpc>
              <a:buNone/>
            </a:pPr>
            <a:r>
              <a:rPr lang="en-US" sz="115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track is a new market, not a new feature. The architecture is fixed; a new track is content into a system that already works.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309360" y="2286000"/>
            <a:ext cx="5120640" cy="2377440"/>
          </a:xfrm>
          <a:prstGeom prst="roundRect">
            <a:avLst>
              <a:gd name="adj" fmla="val 1923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6601968" y="25146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D8A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Horizontal — language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6601968" y="2926080"/>
            <a:ext cx="4572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25"/>
              </a:lnSpc>
              <a:buNone/>
            </a:pPr>
            <a:r>
              <a:rPr lang="en-US" sz="125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French and Spanish first. The Caribbean is natively multilingual and the founder is based in it. The method translates without re-derivation: four steps, six frameworks, one architecture.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48920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25"/>
              </a:lnSpc>
              <a:buNone/>
            </a:pPr>
            <a:r>
              <a:rPr lang="en-US" sz="1350" i="1" dirty="0">
                <a:solidFill>
                  <a:srgbClr val="A69F9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Localisation is a translation cost against an asset already written — not a second product. That is materially different economics from building a new track, and it doubles addressable reach per unit of spend.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777240" y="58064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25"/>
              </a:lnSpc>
              <a:buNone/>
            </a:pPr>
            <a:r>
              <a:rPr lang="en-US" sz="125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Remote delivery removes the geographic ceiling entirely — the addressable market is wherever the free tier reaches, not wherever the founder is.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777240" y="6583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7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SafeRise Protocol · Business Development Assessment · September 2026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11137392" y="65836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A7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40" kern="0" dirty="0">
                <a:solidFill>
                  <a:srgbClr val="D8A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DEFENSIBILITY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914400"/>
            <a:ext cx="10607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570"/>
              </a:lnSpc>
              <a:buNone/>
            </a:pPr>
            <a:r>
              <a:rPr lang="en-US" sz="34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things a competitor cannot simply copy.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777240" y="2286000"/>
            <a:ext cx="5120640" cy="1600200"/>
          </a:xfrm>
          <a:prstGeom prst="roundRect">
            <a:avLst>
              <a:gd name="adj" fmla="val 2857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1069848" y="2487168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D8A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refusal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1069848" y="2907792"/>
            <a:ext cx="4572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63"/>
              </a:lnSpc>
              <a:buNone/>
            </a:pPr>
            <a:r>
              <a:rPr lang="en-US" sz="115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streaks, scores or dependency mechanics. Adopting this means surrendering the retention model a competitor’s forecast depends on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6309360" y="2286000"/>
            <a:ext cx="5120640" cy="1600200"/>
          </a:xfrm>
          <a:prstGeom prst="roundRect">
            <a:avLst>
              <a:gd name="adj" fmla="val 2857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6601968" y="2487168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D8A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corpus</a:t>
            </a:r>
            <a:endParaRPr lang="en-US" sz="1900" dirty="0"/>
          </a:p>
        </p:txBody>
      </p:sp>
      <p:sp>
        <p:nvSpPr>
          <p:cNvPr id="9" name="Text 7"/>
          <p:cNvSpPr txBox="1"/>
          <p:nvPr/>
        </p:nvSpPr>
        <p:spPr>
          <a:xfrm>
            <a:off x="6601968" y="2907792"/>
            <a:ext cx="4572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63"/>
              </a:lnSpc>
              <a:buNone/>
            </a:pPr>
            <a:r>
              <a:rPr lang="en-US" sz="115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151,773 words across 30 protocols, written to one method. Reproducing it is 2,300 hours, not a sprint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77240" y="4069080"/>
            <a:ext cx="5120640" cy="1600200"/>
          </a:xfrm>
          <a:prstGeom prst="roundRect">
            <a:avLst>
              <a:gd name="adj" fmla="val 2857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1069848" y="4270248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D8A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Device-only records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1069848" y="4690872"/>
            <a:ext cx="4572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63"/>
              </a:lnSpc>
              <a:buNone/>
            </a:pPr>
            <a:r>
              <a:rPr lang="en-US" sz="115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Structural, not a policy. Unavailable to anyone whose revenue includes employer analytics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309360" y="4069080"/>
            <a:ext cx="5120640" cy="1600200"/>
          </a:xfrm>
          <a:prstGeom prst="roundRect">
            <a:avLst>
              <a:gd name="adj" fmla="val 2857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6601968" y="4270248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D8A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Founder-market fit</a:t>
            </a:r>
            <a:endParaRPr lang="en-US" sz="1900" dirty="0"/>
          </a:p>
        </p:txBody>
      </p:sp>
      <p:sp>
        <p:nvSpPr>
          <p:cNvPr id="15" name="Text 13"/>
          <p:cNvSpPr txBox="1"/>
          <p:nvPr/>
        </p:nvSpPr>
        <p:spPr>
          <a:xfrm>
            <a:off x="6601968" y="4690872"/>
            <a:ext cx="4572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63"/>
              </a:lnSpc>
              <a:buNone/>
            </a:pPr>
            <a:r>
              <a:rPr lang="en-US" sz="115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decade of enterprise employee-experience selling plus three practitioner certifications. Rare in either direction, rarer together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777240" y="589788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63"/>
              </a:lnSpc>
              <a:buNone/>
            </a:pPr>
            <a:r>
              <a:rPr lang="en-US" sz="1150" dirty="0">
                <a:solidFill>
                  <a:srgbClr val="7A7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Note: an adjacent iOS product markets itself as “Regulate. Rewire. Rise.” Name proximity is a live trademark question and is carried on the risk register.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583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7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SafeRise Protocol · Business Development Assessment · September 2026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1137392" y="65836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A7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40" kern="0" dirty="0">
                <a:solidFill>
                  <a:srgbClr val="D8A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REGULATORY AND IP POSTURE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914400"/>
            <a:ext cx="10607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570"/>
              </a:lnSpc>
              <a:buNone/>
            </a:pPr>
            <a:r>
              <a:rPr lang="en-US" sz="34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Built for the scrutiny, not retrofitted to it.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777240" y="2240280"/>
            <a:ext cx="10652760" cy="713232"/>
          </a:xfrm>
          <a:prstGeom prst="roundRect">
            <a:avLst>
              <a:gd name="adj" fmla="val 6410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1069848" y="2459736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8A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residency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3703320" y="237744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63"/>
              </a:lnSpc>
              <a:buNone/>
            </a:pPr>
            <a:r>
              <a:rPr lang="en-US" sz="115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Supabase, Frankfurt (eu-central-1). Controller is Kenor International B.V.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777240" y="3044952"/>
            <a:ext cx="10652760" cy="713232"/>
          </a:xfrm>
          <a:prstGeom prst="roundRect">
            <a:avLst>
              <a:gd name="adj" fmla="val 6410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1069848" y="326440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8A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Chapter V transfer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3703320" y="3182112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63"/>
              </a:lnSpc>
              <a:buNone/>
            </a:pPr>
            <a:r>
              <a:rPr lang="en-US" sz="115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Remote access from a third country can itself constitute a transfer. Transfer Impact Assessment scoped; SCC mechanism under formal review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77240" y="3849624"/>
            <a:ext cx="10652760" cy="713232"/>
          </a:xfrm>
          <a:prstGeom prst="roundRect">
            <a:avLst>
              <a:gd name="adj" fmla="val 6410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1069848" y="406908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8A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Article 9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3703320" y="3986784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63"/>
              </a:lnSpc>
              <a:buNone/>
            </a:pPr>
            <a:r>
              <a:rPr lang="en-US" sz="115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Journal entries may reveal health data. Basis identified as Art. 6(1)(a) with Art. 9(2)(a) explicit consent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77240" y="4654296"/>
            <a:ext cx="10652760" cy="713232"/>
          </a:xfrm>
          <a:prstGeom prst="roundRect">
            <a:avLst>
              <a:gd name="adj" fmla="val 6410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1069848" y="487375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8A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Device boundary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3703320" y="4791456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63"/>
              </a:lnSpc>
              <a:buNone/>
            </a:pPr>
            <a:r>
              <a:rPr lang="en-US" sz="115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diagnosis, no treatment claim, no outcome promise — which is what keeps the product outside the regulated device perimeter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77240" y="5458968"/>
            <a:ext cx="10652760" cy="713232"/>
          </a:xfrm>
          <a:prstGeom prst="roundRect">
            <a:avLst>
              <a:gd name="adj" fmla="val 6410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1069848" y="5678424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8A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IP position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3703320" y="5596128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63"/>
              </a:lnSpc>
              <a:buNone/>
            </a:pPr>
            <a:r>
              <a:rPr lang="en-US" sz="115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Corpus, method, taxonomy and brand system owned outright. No licensed content, no third-party curriculum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777240" y="5742432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25"/>
              </a:lnSpc>
              <a:buNone/>
            </a:pPr>
            <a:r>
              <a:rPr lang="en-US" sz="1350" i="1" dirty="0">
                <a:solidFill>
                  <a:srgbClr val="A69F9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 legal sign-off. The analysis is complete; formal review is scoped and budgeted. That distinction is stated deliberately.</a:t>
            </a:r>
            <a:endParaRPr lang="en-US" sz="1350" dirty="0"/>
          </a:p>
        </p:txBody>
      </p:sp>
      <p:sp>
        <p:nvSpPr>
          <p:cNvPr id="20" name="Text 18"/>
          <p:cNvSpPr txBox="1"/>
          <p:nvPr/>
        </p:nvSpPr>
        <p:spPr>
          <a:xfrm>
            <a:off x="777240" y="6583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7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SafeRise Protocol · Business Development Assessment · September 2026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11137392" y="65836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A7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40" kern="0" dirty="0">
                <a:solidFill>
                  <a:srgbClr val="D8A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IS BUILDING IT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914400"/>
            <a:ext cx="10607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570"/>
              </a:lnSpc>
              <a:buNone/>
            </a:pPr>
            <a:r>
              <a:rPr lang="en-US" sz="34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Enterprise seller. Certified practitioner.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777240" y="2194560"/>
            <a:ext cx="5120640" cy="2697480"/>
          </a:xfrm>
          <a:prstGeom prst="roundRect">
            <a:avLst>
              <a:gd name="adj" fmla="val 1695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1069848" y="24231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Andre Robley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1069848" y="2852928"/>
            <a:ext cx="4572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63"/>
              </a:lnSpc>
              <a:buNone/>
            </a:pPr>
            <a:r>
              <a:rPr lang="en-US" sz="115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8+ years enterprise SaaS — Jamf, HashiCorp, FeedbackFruits. €5M+ ARR delivered, 470+ new logos, a territory built to 360+ customers, Eagle Award for highest regional attainment. MEDDICC, multi-stakeholder, procurement and legal.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1069848" y="434340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i="1" dirty="0">
                <a:solidFill>
                  <a:srgbClr val="D8A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Certified Jungian Practitioner · Certified Somatic Coach · Meditation Coach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6309360" y="2194560"/>
            <a:ext cx="5120640" cy="868680"/>
          </a:xfrm>
          <a:prstGeom prst="roundRect">
            <a:avLst>
              <a:gd name="adj" fmla="val 6944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6601968" y="2267712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8A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Kirsten Morris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6601968" y="2505456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39"/>
              </a:lnSpc>
              <a:buNone/>
            </a:pPr>
            <a:r>
              <a:rPr lang="en-US" sz="95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lead — owns clinical requirements, escalation criteria and protocol review, and sources third-party licensed practitioners when a track requires one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6309360" y="3246120"/>
            <a:ext cx="5120640" cy="658368"/>
          </a:xfrm>
          <a:prstGeom prst="roundRect">
            <a:avLst>
              <a:gd name="adj" fmla="val 6944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6601968" y="3319272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8A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Aleksandra Macura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601968" y="3557016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39"/>
              </a:lnSpc>
              <a:buNone/>
            </a:pPr>
            <a:r>
              <a:rPr lang="en-US" sz="95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Nutrition, the body, behaviour change — track partner and corporate component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6309360" y="4297680"/>
            <a:ext cx="5120640" cy="658368"/>
          </a:xfrm>
          <a:prstGeom prst="roundRect">
            <a:avLst>
              <a:gd name="adj" fmla="val 6944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 txBox="1"/>
          <p:nvPr/>
        </p:nvSpPr>
        <p:spPr>
          <a:xfrm>
            <a:off x="6601968" y="4370832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8A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Dwight Williams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601968" y="4608576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39"/>
              </a:lnSpc>
              <a:buNone/>
            </a:pPr>
            <a:r>
              <a:rPr lang="en-US" sz="95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Discipline and men’s audience — co-branded track and podcast, revenue-shared</a:t>
            </a:r>
            <a:endParaRPr lang="en-US" sz="950" dirty="0"/>
          </a:p>
        </p:txBody>
      </p:sp>
      <p:sp>
        <p:nvSpPr>
          <p:cNvPr id="20" name="Text 18"/>
          <p:cNvSpPr txBox="1"/>
          <p:nvPr/>
        </p:nvSpPr>
        <p:spPr>
          <a:xfrm>
            <a:off x="777240" y="521208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50"/>
              </a:lnSpc>
              <a:buNone/>
            </a:pPr>
            <a:r>
              <a:rPr lang="en-US" sz="1300" i="1" dirty="0">
                <a:solidFill>
                  <a:srgbClr val="A69F9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Key-person risk is real and named: the corpus, method and commercial relationships sit with one person today. Documented handover architecture exists; a second contracted operator is a stated post-raise priority.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777240" y="6583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7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SafeRise Protocol · Business Development Assessment · September 2026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11137392" y="65836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A7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40" kern="0" dirty="0">
                <a:solidFill>
                  <a:srgbClr val="D8A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ALREADY IN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914400"/>
            <a:ext cx="10607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570"/>
              </a:lnSpc>
              <a:buNone/>
            </a:pPr>
            <a:r>
              <a:rPr lang="en-US" sz="34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$232,005 of work, already delivered.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219456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800" dirty="0">
                <a:solidFill>
                  <a:srgbClr val="D8A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2,644</a:t>
            </a:r>
            <a:endParaRPr lang="en-US" sz="58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315468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25"/>
              </a:lnSpc>
              <a:buNone/>
            </a:pPr>
            <a:r>
              <a:rPr lang="en-US" sz="125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hours of measured work — 66.1 full-time weeks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3749040"/>
            <a:ext cx="4206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44"/>
              </a:lnSpc>
              <a:buNone/>
            </a:pPr>
            <a:r>
              <a:rPr lang="en-US" sz="120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Replacement cost at contractor rates. Not a valuation. Founder time carries no invoice; this is the number that would have appeared on one. $15,000 of cash has gone in alongside it.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760720" y="2286000"/>
            <a:ext cx="5669280" cy="777240"/>
          </a:xfrm>
          <a:prstGeom prst="roundRect">
            <a:avLst>
              <a:gd name="adj" fmla="val 5882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6035040" y="251460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Product &amp; content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8961120" y="2505456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D8A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$87,065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0332720" y="252374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977 hrs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760720" y="3154680"/>
            <a:ext cx="5669280" cy="777240"/>
          </a:xfrm>
          <a:prstGeom prst="roundRect">
            <a:avLst>
              <a:gd name="adj" fmla="val 5882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6035040" y="338328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Web &amp; engineering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8961120" y="3374136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D8A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$86,200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0332720" y="339242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1,134 hrs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760720" y="4023360"/>
            <a:ext cx="5669280" cy="777240"/>
          </a:xfrm>
          <a:prstGeom prst="roundRect">
            <a:avLst>
              <a:gd name="adj" fmla="val 5882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 txBox="1"/>
          <p:nvPr/>
        </p:nvSpPr>
        <p:spPr>
          <a:xfrm>
            <a:off x="6035040" y="425196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Business &amp; commercial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8961120" y="4242816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D8A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$58,740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0332720" y="426110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533 hrs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777240" y="548640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25"/>
              </a:lnSpc>
              <a:buNone/>
            </a:pPr>
            <a:r>
              <a:rPr lang="en-US" sz="1350" i="1" dirty="0">
                <a:solidFill>
                  <a:srgbClr val="A69F9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corpus, method, design system, member architecture and framework layer are built. What remains is consolidation, QA, legal completion and distribution — not conceptual invention. The bridge ahead asks for $15,000, which doubles the cash in and buys a measured conversion number.</a:t>
            </a:r>
            <a:endParaRPr lang="en-US" sz="1350" dirty="0"/>
          </a:p>
        </p:txBody>
      </p:sp>
      <p:sp>
        <p:nvSpPr>
          <p:cNvPr id="20" name="Text 18"/>
          <p:cNvSpPr txBox="1"/>
          <p:nvPr/>
        </p:nvSpPr>
        <p:spPr>
          <a:xfrm>
            <a:off x="777240" y="6583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7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SafeRise Protocol · Business Development Assessment · September 2026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11137392" y="65836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A7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40" kern="0" dirty="0">
                <a:solidFill>
                  <a:srgbClr val="D8A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914400"/>
            <a:ext cx="10607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150"/>
              </a:lnSpc>
              <a:buNone/>
            </a:pPr>
            <a:r>
              <a:rPr lang="en-US" sz="30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B2B arrives in month six.</a:t>
            </a:r>
            <a:endParaRPr lang="en-US" sz="3000" dirty="0"/>
          </a:p>
          <a:p>
            <a:pPr indent="0" marL="0">
              <a:lnSpc>
                <a:spcPts val="3150"/>
              </a:lnSpc>
              <a:buNone/>
            </a:pPr>
            <a:r>
              <a:rPr lang="en-US" sz="30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library doubles in month four.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777240" y="2240280"/>
          <a:ext cx="640080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7543800" y="2240280"/>
            <a:ext cx="3886200" cy="2926080"/>
          </a:xfrm>
          <a:prstGeom prst="roundRect">
            <a:avLst>
              <a:gd name="adj" fmla="val 1563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7818120" y="2450592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8A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changed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7818120" y="2834640"/>
            <a:ext cx="33375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562"/>
              </a:lnSpc>
              <a:spcAft>
                <a:spcPts val="700"/>
              </a:spcAft>
              <a:buSzPct val="100000"/>
              <a:buChar char="◇"/>
            </a:pPr>
            <a:r>
              <a:rPr lang="en-US" sz="110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more tracks live by month four — eight in total</a:t>
            </a:r>
            <a:endParaRPr lang="en-US" sz="1100" dirty="0"/>
          </a:p>
          <a:p>
            <a:pPr marL="342900" indent="-342900">
              <a:lnSpc>
                <a:spcPts val="1562"/>
              </a:lnSpc>
              <a:spcAft>
                <a:spcPts val="700"/>
              </a:spcAft>
              <a:buSzPct val="100000"/>
              <a:buChar char="◇"/>
            </a:pPr>
            <a:r>
              <a:rPr lang="en-US" sz="110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€29 tier opens alongside €19 once the library doubles</a:t>
            </a:r>
            <a:endParaRPr lang="en-US" sz="1100" dirty="0"/>
          </a:p>
          <a:p>
            <a:pPr marL="342900" indent="-342900">
              <a:lnSpc>
                <a:spcPts val="1562"/>
              </a:lnSpc>
              <a:spcAft>
                <a:spcPts val="700"/>
              </a:spcAft>
              <a:buSzPct val="100000"/>
              <a:buChar char="◇"/>
            </a:pPr>
            <a:r>
              <a:rPr lang="en-US" sz="110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B2B revenue begins month six, not year two</a:t>
            </a:r>
            <a:endParaRPr lang="en-US" sz="1100" dirty="0"/>
          </a:p>
          <a:p>
            <a:pPr marL="342900" indent="-342900">
              <a:lnSpc>
                <a:spcPts val="1562"/>
              </a:lnSpc>
              <a:spcAft>
                <a:spcPts val="700"/>
              </a:spcAft>
              <a:buSzPct val="100000"/>
              <a:buChar char="◇"/>
            </a:pPr>
            <a:r>
              <a:rPr lang="en-US" sz="110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vertical rollouts ready at corporate launch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53492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50"/>
              </a:lnSpc>
              <a:buNone/>
            </a:pPr>
            <a:r>
              <a:rPr lang="en-US" sz="1300" i="1" dirty="0">
                <a:solidFill>
                  <a:srgbClr val="A69F9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Signups are capped at 400 · 800 · 1,200 a month by year three — the range this deck already states. Without that ceiling the model compounds into a number no solo founder reaches.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5925312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44"/>
              </a:lnSpc>
              <a:buNone/>
            </a:pPr>
            <a:r>
              <a:rPr lang="en-US" sz="120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against the conservative line. Everything above it is upside, not forecast.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777240" y="6583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7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SafeRise Protocol · Business Development Assessment · September 2026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137392" y="65836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A7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40" kern="0" dirty="0">
                <a:solidFill>
                  <a:srgbClr val="D8A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 · COMPOSITION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914400"/>
            <a:ext cx="10607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570"/>
              </a:lnSpc>
              <a:buNone/>
            </a:pPr>
            <a:r>
              <a:rPr lang="en-US" sz="34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lines, three different shapes.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21031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D8A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Conservative case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777240" y="2468880"/>
            <a:ext cx="10652760" cy="384048"/>
          </a:xfrm>
          <a:prstGeom prst="roundRect">
            <a:avLst>
              <a:gd name="adj" fmla="val 11905"/>
            </a:avLst>
          </a:prstGeom>
          <a:solidFill>
            <a:srgbClr val="1C2236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1051560" y="2551176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20" kern="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4526280" y="2551176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20" kern="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 1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5623560" y="2551176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20" kern="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 2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6720840" y="2551176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20" kern="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 3</a:t>
            </a:r>
            <a:endParaRPr lang="en-US" sz="950" dirty="0"/>
          </a:p>
        </p:txBody>
      </p:sp>
      <p:sp>
        <p:nvSpPr>
          <p:cNvPr id="10" name="Text 8"/>
          <p:cNvSpPr txBox="1"/>
          <p:nvPr/>
        </p:nvSpPr>
        <p:spPr>
          <a:xfrm>
            <a:off x="8092440" y="2551176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20" kern="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Shape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777240" y="2944368"/>
            <a:ext cx="10652760" cy="566928"/>
          </a:xfrm>
          <a:prstGeom prst="roundRect">
            <a:avLst>
              <a:gd name="adj" fmla="val 8065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1051560" y="310896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Subscription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4526280" y="3118104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8A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€13k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5623560" y="3118104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8A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€32k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6720840" y="3118104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8A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€40k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8092440" y="312724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1"/>
              </a:lnSpc>
              <a:buNone/>
            </a:pPr>
            <a:r>
              <a:rPr lang="en-US" sz="105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Compounds, then flattens against the signup ceiling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777240" y="3602736"/>
            <a:ext cx="10652760" cy="566928"/>
          </a:xfrm>
          <a:prstGeom prst="roundRect">
            <a:avLst>
              <a:gd name="adj" fmla="val 8065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 txBox="1"/>
          <p:nvPr/>
        </p:nvSpPr>
        <p:spPr>
          <a:xfrm>
            <a:off x="1051560" y="376732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Delivery — 1:1 and workshops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4526280" y="3776472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8A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€34k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5623560" y="3776472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8A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€38k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6720840" y="3776472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8A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€40k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8092440" y="3785616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1"/>
              </a:lnSpc>
              <a:buNone/>
            </a:pPr>
            <a:r>
              <a:rPr lang="en-US" sz="105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Calendar-capped. Roughly flat whatever the funnel does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777240" y="4261104"/>
            <a:ext cx="10652760" cy="566928"/>
          </a:xfrm>
          <a:prstGeom prst="roundRect">
            <a:avLst>
              <a:gd name="adj" fmla="val 8065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24" name="Text 22"/>
          <p:cNvSpPr txBox="1"/>
          <p:nvPr/>
        </p:nvSpPr>
        <p:spPr>
          <a:xfrm>
            <a:off x="1051560" y="442569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Organisations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4526280" y="443484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8A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€16k</a:t>
            </a:r>
            <a:endParaRPr lang="en-US" sz="1250" dirty="0"/>
          </a:p>
        </p:txBody>
      </p:sp>
      <p:sp>
        <p:nvSpPr>
          <p:cNvPr id="26" name="Text 24"/>
          <p:cNvSpPr txBox="1"/>
          <p:nvPr/>
        </p:nvSpPr>
        <p:spPr>
          <a:xfrm>
            <a:off x="5623560" y="443484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8A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€74k</a:t>
            </a:r>
            <a:endParaRPr lang="en-US" sz="1250" dirty="0"/>
          </a:p>
        </p:txBody>
      </p:sp>
      <p:sp>
        <p:nvSpPr>
          <p:cNvPr id="27" name="Text 25"/>
          <p:cNvSpPr txBox="1"/>
          <p:nvPr/>
        </p:nvSpPr>
        <p:spPr>
          <a:xfrm>
            <a:off x="6720840" y="443484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8A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€168k</a:t>
            </a:r>
            <a:endParaRPr lang="en-US" sz="1250" dirty="0"/>
          </a:p>
        </p:txBody>
      </p:sp>
      <p:sp>
        <p:nvSpPr>
          <p:cNvPr id="28" name="Text 26"/>
          <p:cNvSpPr txBox="1"/>
          <p:nvPr/>
        </p:nvSpPr>
        <p:spPr>
          <a:xfrm>
            <a:off x="8092440" y="4443984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1"/>
              </a:lnSpc>
              <a:buNone/>
            </a:pPr>
            <a:r>
              <a:rPr lang="en-US" sz="105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Lumpy. The only line that scales with capacity, not reach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777240" y="5239512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B2B carries years two and three</a:t>
            </a:r>
            <a:endParaRPr lang="en-US" sz="1700" dirty="0"/>
          </a:p>
        </p:txBody>
      </p:sp>
      <p:sp>
        <p:nvSpPr>
          <p:cNvPr id="30" name="Text 28"/>
          <p:cNvSpPr txBox="1"/>
          <p:nvPr/>
        </p:nvSpPr>
        <p:spPr>
          <a:xfrm>
            <a:off x="777240" y="5650992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25"/>
              </a:lnSpc>
              <a:buNone/>
            </a:pPr>
            <a:r>
              <a:rPr lang="en-US" sz="125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Subscription flattens once signups hit their ceiling. Delivery is capped by the calendar. Organisations is the only line that grows with contracted facilitator capacity rather than with reach — which is why the raise is spent on capacity, and why the top band cannot be sold before a second facilitator exists.</a:t>
            </a:r>
            <a:endParaRPr lang="en-US" sz="1250" dirty="0"/>
          </a:p>
        </p:txBody>
      </p:sp>
      <p:sp>
        <p:nvSpPr>
          <p:cNvPr id="31" name="Text 29"/>
          <p:cNvSpPr txBox="1"/>
          <p:nvPr/>
        </p:nvSpPr>
        <p:spPr>
          <a:xfrm>
            <a:off x="777240" y="6583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7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SafeRise Protocol · Business Development Assessment · September 2026</a:t>
            </a:r>
            <a:endParaRPr lang="en-US" sz="900" dirty="0"/>
          </a:p>
        </p:txBody>
      </p:sp>
      <p:sp>
        <p:nvSpPr>
          <p:cNvPr id="32" name="Text 30"/>
          <p:cNvSpPr txBox="1"/>
          <p:nvPr/>
        </p:nvSpPr>
        <p:spPr>
          <a:xfrm>
            <a:off x="11137392" y="65836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A7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40" kern="0" dirty="0">
                <a:solidFill>
                  <a:srgbClr val="D8A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FUNDED CASE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914400"/>
            <a:ext cx="10607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570"/>
              </a:lnSpc>
              <a:buNone/>
            </a:pPr>
            <a:r>
              <a:rPr lang="en-US" sz="34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capital actually buys.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210312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87"/>
              </a:lnSpc>
              <a:buNone/>
            </a:pPr>
            <a:r>
              <a:rPr lang="en-US" sz="135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capped scenarios assume a founder selling alone with no acquisition budget. Funded, the constraint moves from reach to headcount — and headcount is a decision rather than a ceiling.</a:t>
            </a:r>
            <a:endParaRPr lang="en-US" sz="135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777240" y="2880360"/>
          <a:ext cx="6035040" cy="2606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7223760" y="2926080"/>
            <a:ext cx="2103120" cy="1143000"/>
          </a:xfrm>
          <a:prstGeom prst="roundRect">
            <a:avLst>
              <a:gd name="adj" fmla="val 4000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7" name="Text 4"/>
          <p:cNvSpPr txBox="1"/>
          <p:nvPr/>
        </p:nvSpPr>
        <p:spPr>
          <a:xfrm>
            <a:off x="7443216" y="310896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D8A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€1.24M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7443216" y="361188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1"/>
              </a:lnSpc>
              <a:buNone/>
            </a:pPr>
            <a:r>
              <a:rPr lang="en-US" sz="105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 3 revenue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9436608" y="2926080"/>
            <a:ext cx="2103120" cy="1143000"/>
          </a:xfrm>
          <a:prstGeom prst="roundRect">
            <a:avLst>
              <a:gd name="adj" fmla="val 4000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9656064" y="310896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D8A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2,589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9656064" y="361188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1"/>
              </a:lnSpc>
              <a:buNone/>
            </a:pPr>
            <a:r>
              <a:rPr lang="en-US" sz="105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paying members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7223760" y="4251960"/>
            <a:ext cx="2103120" cy="1143000"/>
          </a:xfrm>
          <a:prstGeom prst="roundRect">
            <a:avLst>
              <a:gd name="adj" fmla="val 4000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13" name="Text 10"/>
          <p:cNvSpPr txBox="1"/>
          <p:nvPr/>
        </p:nvSpPr>
        <p:spPr>
          <a:xfrm>
            <a:off x="7443216" y="443484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D8A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€238K</a:t>
            </a:r>
            <a:endParaRPr lang="en-US" sz="2200" dirty="0"/>
          </a:p>
        </p:txBody>
      </p:sp>
      <p:sp>
        <p:nvSpPr>
          <p:cNvPr id="14" name="Text 11"/>
          <p:cNvSpPr txBox="1"/>
          <p:nvPr/>
        </p:nvSpPr>
        <p:spPr>
          <a:xfrm>
            <a:off x="7443216" y="493776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1"/>
              </a:lnSpc>
              <a:buNone/>
            </a:pPr>
            <a:r>
              <a:rPr lang="en-US" sz="105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peak cash need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9436608" y="4251960"/>
            <a:ext cx="2103120" cy="1143000"/>
          </a:xfrm>
          <a:prstGeom prst="roundRect">
            <a:avLst>
              <a:gd name="adj" fmla="val 4000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 txBox="1"/>
          <p:nvPr/>
        </p:nvSpPr>
        <p:spPr>
          <a:xfrm>
            <a:off x="9656064" y="443484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D8A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Year 3</a:t>
            </a:r>
            <a:endParaRPr lang="en-US" sz="2200" dirty="0"/>
          </a:p>
        </p:txBody>
      </p:sp>
      <p:sp>
        <p:nvSpPr>
          <p:cNvPr id="17" name="Text 14"/>
          <p:cNvSpPr txBox="1"/>
          <p:nvPr/>
        </p:nvSpPr>
        <p:spPr>
          <a:xfrm>
            <a:off x="9656064" y="493776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1"/>
              </a:lnSpc>
              <a:buNone/>
            </a:pPr>
            <a:r>
              <a:rPr lang="en-US" sz="105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breakeven</a:t>
            </a:r>
            <a:endParaRPr lang="en-US" sz="1050" dirty="0"/>
          </a:p>
        </p:txBody>
      </p:sp>
      <p:sp>
        <p:nvSpPr>
          <p:cNvPr id="18" name="Text 15"/>
          <p:cNvSpPr txBox="1"/>
          <p:nvPr/>
        </p:nvSpPr>
        <p:spPr>
          <a:xfrm>
            <a:off x="777240" y="5650992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50"/>
              </a:lnSpc>
              <a:buNone/>
            </a:pPr>
            <a:r>
              <a:rPr lang="en-US" sz="1300" i="1" dirty="0">
                <a:solidFill>
                  <a:srgbClr val="A69F9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Peak cash need is €238K. Breakeven arrives in year three, at roughly €156,000 of revenue per head across eight roles.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777240" y="6583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7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SafeRise Protocol · Business Development Assessment · September 2026</a:t>
            </a:r>
            <a:endParaRPr lang="en-US" sz="900" dirty="0"/>
          </a:p>
        </p:txBody>
      </p:sp>
      <p:sp>
        <p:nvSpPr>
          <p:cNvPr id="20" name="Text 17"/>
          <p:cNvSpPr txBox="1"/>
          <p:nvPr/>
        </p:nvSpPr>
        <p:spPr>
          <a:xfrm>
            <a:off x="11137392" y="65836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A7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9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40" kern="0" dirty="0">
                <a:solidFill>
                  <a:srgbClr val="D8A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FUNDED CASE · THE OPERATION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914400"/>
            <a:ext cx="10607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570"/>
              </a:lnSpc>
              <a:buNone/>
            </a:pPr>
            <a:r>
              <a:rPr lang="en-US" sz="34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small remote team, and the stack beneath it.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777240" y="2148840"/>
            <a:ext cx="5120640" cy="566928"/>
          </a:xfrm>
          <a:prstGeom prst="roundRect">
            <a:avLst>
              <a:gd name="adj" fmla="val 8065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1033272" y="2221992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8A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Founder / CEO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033272" y="2459736"/>
            <a:ext cx="4617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20"/>
              </a:lnSpc>
              <a:buNone/>
            </a:pPr>
            <a:r>
              <a:rPr lang="en-US" sz="100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Sales-led. Enterprise pipeline and method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777240" y="2807208"/>
            <a:ext cx="5120640" cy="566928"/>
          </a:xfrm>
          <a:prstGeom prst="roundRect">
            <a:avLst>
              <a:gd name="adj" fmla="val 8065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1033272" y="288036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8A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Enterprise AE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033272" y="3118104"/>
            <a:ext cx="4617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20"/>
              </a:lnSpc>
              <a:buNone/>
            </a:pPr>
            <a:r>
              <a:rPr lang="en-US" sz="100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Carries the corporate number from year two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777240" y="3465576"/>
            <a:ext cx="5120640" cy="566928"/>
          </a:xfrm>
          <a:prstGeom prst="roundRect">
            <a:avLst>
              <a:gd name="adj" fmla="val 8065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1033272" y="35387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8A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Marketing lead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033272" y="3776472"/>
            <a:ext cx="4617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20"/>
              </a:lnSpc>
              <a:buNone/>
            </a:pPr>
            <a:r>
              <a:rPr lang="en-US" sz="100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 generation, content, the free-track SEO asset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777240" y="4123944"/>
            <a:ext cx="5120640" cy="566928"/>
          </a:xfrm>
          <a:prstGeom prst="roundRect">
            <a:avLst>
              <a:gd name="adj" fmla="val 8065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1033272" y="41970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8A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Full-stack engineer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033272" y="4434840"/>
            <a:ext cx="4617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20"/>
              </a:lnSpc>
              <a:buNone/>
            </a:pPr>
            <a:r>
              <a:rPr lang="en-US" sz="100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Organisation model, seats, SSO, admin, reporting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309360" y="2148840"/>
            <a:ext cx="5120640" cy="566928"/>
          </a:xfrm>
          <a:prstGeom prst="roundRect">
            <a:avLst>
              <a:gd name="adj" fmla="val 8065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6565392" y="2221992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8A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Clinical lead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565392" y="2459736"/>
            <a:ext cx="4617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20"/>
              </a:lnSpc>
              <a:buNone/>
            </a:pPr>
            <a:r>
              <a:rPr lang="en-US" sz="100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Escalation criteria, protocol review, sourcing licensed practitioners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309360" y="2807208"/>
            <a:ext cx="5120640" cy="566928"/>
          </a:xfrm>
          <a:prstGeom prst="roundRect">
            <a:avLst>
              <a:gd name="adj" fmla="val 8065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 txBox="1"/>
          <p:nvPr/>
        </p:nvSpPr>
        <p:spPr>
          <a:xfrm>
            <a:off x="6565392" y="288036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8A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Facilitators — contract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6565392" y="3118104"/>
            <a:ext cx="4617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20"/>
              </a:lnSpc>
              <a:buNone/>
            </a:pPr>
            <a:r>
              <a:rPr lang="en-US" sz="100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 capacity. Scales with contracted revenue, never behind it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309360" y="3465576"/>
            <a:ext cx="5120640" cy="566928"/>
          </a:xfrm>
          <a:prstGeom prst="roundRect">
            <a:avLst>
              <a:gd name="adj" fmla="val 8065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 txBox="1"/>
          <p:nvPr/>
        </p:nvSpPr>
        <p:spPr>
          <a:xfrm>
            <a:off x="6565392" y="35387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8A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Content producer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6565392" y="3776472"/>
            <a:ext cx="4617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20"/>
              </a:lnSpc>
              <a:buNone/>
            </a:pPr>
            <a:r>
              <a:rPr lang="en-US" sz="100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remaining tracks — Sleep, Nutrition, Strength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309360" y="4123944"/>
            <a:ext cx="5120640" cy="566928"/>
          </a:xfrm>
          <a:prstGeom prst="roundRect">
            <a:avLst>
              <a:gd name="adj" fmla="val 8065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26" name="Text 24"/>
          <p:cNvSpPr txBox="1"/>
          <p:nvPr/>
        </p:nvSpPr>
        <p:spPr>
          <a:xfrm>
            <a:off x="6565392" y="41970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8A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Customer success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6565392" y="4434840"/>
            <a:ext cx="4617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20"/>
              </a:lnSpc>
              <a:buNone/>
            </a:pPr>
            <a:r>
              <a:rPr lang="en-US" sz="100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year three. Renewals are where B2B compounds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777240" y="493776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stack</a:t>
            </a:r>
            <a:endParaRPr lang="en-US" sz="1600" dirty="0"/>
          </a:p>
        </p:txBody>
      </p:sp>
      <p:sp>
        <p:nvSpPr>
          <p:cNvPr id="29" name="Text 27"/>
          <p:cNvSpPr txBox="1"/>
          <p:nvPr/>
        </p:nvSpPr>
        <p:spPr>
          <a:xfrm>
            <a:off x="777240" y="525780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82"/>
              </a:lnSpc>
              <a:buNone/>
            </a:pPr>
            <a:r>
              <a:rPr lang="en-US" sz="110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Supabase (Frankfurt) · Paddle merchant of record · AI tooling and agentic development — Claude Max and Claude Code, ChatGPT, Runway, API · CRM and sales tooling · transactional and marketing email · SSO and identity · analytics and support desk · security and compliance tooling · legal, DPA, insurance and accounting · paid acquisition and events.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777240" y="60350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i="1" dirty="0">
                <a:solidFill>
                  <a:srgbClr val="A69F9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tooling runs €6,000 in year one to €28,000 in year three — against €20,000-plus a year of contract engineering, design and production it replaces. It is the reason one engineer is enough.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777240" y="6583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7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SafeRise Protocol · Business Development Assessment · September 2026</a:t>
            </a:r>
            <a:endParaRPr lang="en-US" sz="900" dirty="0"/>
          </a:p>
        </p:txBody>
      </p:sp>
      <p:sp>
        <p:nvSpPr>
          <p:cNvPr id="32" name="Text 30"/>
          <p:cNvSpPr txBox="1"/>
          <p:nvPr/>
        </p:nvSpPr>
        <p:spPr>
          <a:xfrm>
            <a:off x="11137392" y="65836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A7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40" kern="0" dirty="0">
                <a:solidFill>
                  <a:srgbClr val="D8A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OPERATING LEVERAGE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914400"/>
            <a:ext cx="10607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570"/>
              </a:lnSpc>
              <a:buNone/>
            </a:pPr>
            <a:r>
              <a:rPr lang="en-US" sz="34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one engineer is enough.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2057400"/>
            <a:ext cx="10424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87"/>
              </a:lnSpc>
              <a:buNone/>
            </a:pPr>
            <a:r>
              <a:rPr lang="en-US" sz="135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platform — thirty protocols, three hundred resources, the member architecture, the design system and every document in this deck — was built by one person using agentic tooling. That is not a cost saving. It is the operating model.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777240" y="2971800"/>
            <a:ext cx="10652760" cy="566928"/>
          </a:xfrm>
          <a:prstGeom prst="roundRect">
            <a:avLst>
              <a:gd name="adj" fmla="val 8065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1051560" y="313639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Contract engineering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160520" y="3145536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E87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€12,000–18,000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6537960" y="3154680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1"/>
              </a:lnSpc>
              <a:buNone/>
            </a:pPr>
            <a:r>
              <a:rPr lang="en-US" sz="105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Code, running written pass briefs against the repository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777240" y="3630168"/>
            <a:ext cx="10652760" cy="566928"/>
          </a:xfrm>
          <a:prstGeom prst="roundRect">
            <a:avLst>
              <a:gd name="adj" fmla="val 8065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1051560" y="379476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Design and collateral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4160520" y="3803904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E87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€4,000–6,000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6537960" y="3813048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1"/>
              </a:lnSpc>
              <a:buNone/>
            </a:pPr>
            <a:r>
              <a:rPr lang="en-US" sz="105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Mockups, decks and buyer documents, reviewed rather than commissioned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777240" y="4288536"/>
            <a:ext cx="10652760" cy="566928"/>
          </a:xfrm>
          <a:prstGeom prst="roundRect">
            <a:avLst>
              <a:gd name="adj" fmla="val 8065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1051560" y="445312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Video and motion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4160520" y="446227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E87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€2,000–4,000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6537960" y="4471416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1"/>
              </a:lnSpc>
              <a:buNone/>
            </a:pPr>
            <a:r>
              <a:rPr lang="en-US" sz="105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Runway — the film, track banners, corporate collateral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777240" y="4946904"/>
            <a:ext cx="10652760" cy="566928"/>
          </a:xfrm>
          <a:prstGeom prst="roundRect">
            <a:avLst>
              <a:gd name="adj" fmla="val 8065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 txBox="1"/>
          <p:nvPr/>
        </p:nvSpPr>
        <p:spPr>
          <a:xfrm>
            <a:off x="1051560" y="511149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Copy and documentation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4160520" y="512064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E87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€3,000–5,000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537960" y="5129784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1"/>
              </a:lnSpc>
              <a:buNone/>
            </a:pPr>
            <a:r>
              <a:rPr lang="en-US" sz="105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Protocol content, briefs, legal drafting for review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777240" y="5669280"/>
            <a:ext cx="10652760" cy="566928"/>
          </a:xfrm>
          <a:prstGeom prst="roundRect">
            <a:avLst>
              <a:gd name="adj" fmla="val 8065"/>
            </a:avLst>
          </a:prstGeom>
          <a:solidFill>
            <a:srgbClr val="1C2236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22" name="Text 20"/>
          <p:cNvSpPr txBox="1"/>
          <p:nvPr/>
        </p:nvSpPr>
        <p:spPr>
          <a:xfrm>
            <a:off x="1051560" y="583387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8A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tooling, actual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4160520" y="5843016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D8A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€6,000–28,000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6537960" y="5852160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1"/>
              </a:lnSpc>
              <a:buNone/>
            </a:pPr>
            <a:r>
              <a:rPr lang="en-US" sz="105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 one to year three. Claude Max and Claude Code, ChatGPT, Runway, API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777240" y="6583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7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SafeRise Protocol · Business Development Assessment · September 2026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11137392" y="65836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A7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9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40" kern="0" dirty="0">
                <a:solidFill>
                  <a:srgbClr val="D8A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OPERATING LEVERAGE · THE LIMIT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914400"/>
            <a:ext cx="10607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360"/>
              </a:lnSpc>
              <a:buNone/>
            </a:pPr>
            <a:r>
              <a:rPr lang="en-US" sz="32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 compresses construction.</a:t>
            </a:r>
            <a:endParaRPr lang="en-US" sz="3200" dirty="0"/>
          </a:p>
          <a:p>
            <a:pPr indent="0" marL="0">
              <a:lnSpc>
                <a:spcPts val="3360"/>
              </a:lnSpc>
              <a:buNone/>
            </a:pPr>
            <a:r>
              <a:rPr lang="en-US" sz="32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 does not replace judgement.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77240" y="2651760"/>
            <a:ext cx="5120640" cy="2651760"/>
          </a:xfrm>
          <a:prstGeom prst="roundRect">
            <a:avLst>
              <a:gd name="adj" fmla="val 1724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1069848" y="28803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D8A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it does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1069848" y="3337560"/>
            <a:ext cx="45720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704"/>
              </a:lnSpc>
              <a:spcAft>
                <a:spcPts val="700"/>
              </a:spcAft>
              <a:buSzPct val="100000"/>
              <a:buChar char="◇"/>
            </a:pPr>
            <a:r>
              <a:rPr lang="en-US" sz="120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Writes and revises against a written specification</a:t>
            </a:r>
            <a:endParaRPr lang="en-US" sz="1200" dirty="0"/>
          </a:p>
          <a:p>
            <a:pPr marL="342900" indent="-342900">
              <a:lnSpc>
                <a:spcPts val="1704"/>
              </a:lnSpc>
              <a:spcAft>
                <a:spcPts val="700"/>
              </a:spcAft>
              <a:buSzPct val="100000"/>
              <a:buChar char="◇"/>
            </a:pPr>
            <a:r>
              <a:rPr lang="en-US" sz="120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Holds a large codebase in context across sessions</a:t>
            </a:r>
            <a:endParaRPr lang="en-US" sz="1200" dirty="0"/>
          </a:p>
          <a:p>
            <a:pPr marL="342900" indent="-342900">
              <a:lnSpc>
                <a:spcPts val="1704"/>
              </a:lnSpc>
              <a:spcAft>
                <a:spcPts val="700"/>
              </a:spcAft>
              <a:buSzPct val="100000"/>
              <a:buChar char="◇"/>
            </a:pPr>
            <a:r>
              <a:rPr lang="en-US" sz="120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Produces documents, mockups and briefs at speed</a:t>
            </a:r>
            <a:endParaRPr lang="en-US" sz="1200" dirty="0"/>
          </a:p>
          <a:p>
            <a:pPr marL="342900" indent="-342900">
              <a:lnSpc>
                <a:spcPts val="1704"/>
              </a:lnSpc>
              <a:spcAft>
                <a:spcPts val="700"/>
              </a:spcAft>
              <a:buSzPct val="100000"/>
              <a:buChar char="◇"/>
            </a:pPr>
            <a:r>
              <a:rPr lang="en-US" sz="120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Lets one engineer carry a platform build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309360" y="2651760"/>
            <a:ext cx="5120640" cy="2651760"/>
          </a:xfrm>
          <a:prstGeom prst="roundRect">
            <a:avLst>
              <a:gd name="adj" fmla="val 1724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6601968" y="28803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7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it does not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6601968" y="3337560"/>
            <a:ext cx="45720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704"/>
              </a:lnSpc>
              <a:spcAft>
                <a:spcPts val="700"/>
              </a:spcAft>
              <a:buSzPct val="100000"/>
              <a:buChar char="◇"/>
            </a:pPr>
            <a:r>
              <a:rPr lang="en-US" sz="120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 what is worth building</a:t>
            </a:r>
            <a:endParaRPr lang="en-US" sz="1200" dirty="0"/>
          </a:p>
          <a:p>
            <a:pPr marL="342900" indent="-342900">
              <a:lnSpc>
                <a:spcPts val="1704"/>
              </a:lnSpc>
              <a:spcAft>
                <a:spcPts val="700"/>
              </a:spcAft>
              <a:buSzPct val="100000"/>
              <a:buChar char="◇"/>
            </a:pPr>
            <a:r>
              <a:rPr lang="en-US" sz="120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its own work against a live system</a:t>
            </a:r>
            <a:endParaRPr lang="en-US" sz="1200" dirty="0"/>
          </a:p>
          <a:p>
            <a:pPr marL="342900" indent="-342900">
              <a:lnSpc>
                <a:spcPts val="1704"/>
              </a:lnSpc>
              <a:spcAft>
                <a:spcPts val="700"/>
              </a:spcAft>
              <a:buSzPct val="100000"/>
              <a:buChar char="◇"/>
            </a:pPr>
            <a:r>
              <a:rPr lang="en-US" sz="120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 clinical, legal or commercial judgement</a:t>
            </a:r>
            <a:endParaRPr lang="en-US" sz="1200" dirty="0"/>
          </a:p>
          <a:p>
            <a:pPr marL="342900" indent="-342900">
              <a:lnSpc>
                <a:spcPts val="1704"/>
              </a:lnSpc>
              <a:spcAft>
                <a:spcPts val="700"/>
              </a:spcAft>
              <a:buSzPct val="100000"/>
              <a:buChar char="◇"/>
            </a:pPr>
            <a:r>
              <a:rPr lang="en-US" sz="120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 the need for review — which is where the time goes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5468112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75"/>
              </a:lnSpc>
              <a:buNone/>
            </a:pPr>
            <a:r>
              <a:rPr lang="en-US" sz="1250" i="1" dirty="0">
                <a:solidFill>
                  <a:srgbClr val="A69F9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defect this project has shipped traces to an unverified assumption entering a specification, not to the tooling failing. The discipline that catches it — written briefs, a fix register, verification through the route a member actually takes — is the part that does not scale automatically.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6583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7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SafeRise Protocol · Business Development Assessment · September 2026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11137392" y="65836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A7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</a:t>
            </a:r>
            <a:endParaRPr lang="en-US" sz="9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use-band.jpg">    </p:cNvPr>
          <p:cNvPicPr>
            <a:picLocks noChangeAspect="1"/>
          </p:cNvPicPr>
          <p:nvPr/>
        </p:nvPicPr>
        <p:blipFill>
          <a:blip r:embed="rId1"/>
          <a:srcRect t="2000" b="53900"/>
          <a:stretch>
            <a:fillRect/>
          </a:stretch>
        </p:blipFill>
        <p:spPr>
          <a:xfrm>
            <a:off x="0" y="0"/>
            <a:ext cx="12188952" cy="224028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88952" cy="2240280"/>
          </a:xfrm>
          <a:prstGeom prst="rect">
            <a:avLst/>
          </a:prstGeom>
          <a:solidFill>
            <a:srgbClr val="0F1420">
              <a:alpha val="78000"/>
            </a:srgbClr>
          </a:solidFill>
          <a:ln/>
        </p:spPr>
        <p:txBody>
          <a:bodyPr/>
          <a:p/>
        </p:txBody>
      </p:sp>
      <p:sp>
        <p:nvSpPr>
          <p:cNvPr id="4" name="Shape 1"/>
          <p:cNvSpPr/>
          <p:nvPr/>
        </p:nvSpPr>
        <p:spPr>
          <a:xfrm>
            <a:off x="0" y="0"/>
            <a:ext cx="6949440" cy="2240280"/>
          </a:xfrm>
          <a:prstGeom prst="rect">
            <a:avLst/>
          </a:prstGeom>
          <a:solidFill>
            <a:srgbClr val="0F1420">
              <a:alpha val="91000"/>
            </a:srgbClr>
          </a:solidFill>
          <a:ln/>
        </p:spPr>
        <p:txBody>
          <a:bodyPr/>
          <a:p/>
        </p:txBody>
      </p:sp>
      <p:sp>
        <p:nvSpPr>
          <p:cNvPr id="5" name="Text 2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40" kern="0" dirty="0">
                <a:solidFill>
                  <a:srgbClr val="D8A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SEQUENCING</a:t>
            </a:r>
            <a:endParaRPr lang="en-US" sz="1050" dirty="0"/>
          </a:p>
        </p:txBody>
      </p:sp>
      <p:sp>
        <p:nvSpPr>
          <p:cNvPr id="6" name="Text 3"/>
          <p:cNvSpPr txBox="1"/>
          <p:nvPr/>
        </p:nvSpPr>
        <p:spPr>
          <a:xfrm>
            <a:off x="777240" y="914400"/>
            <a:ext cx="10607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360"/>
              </a:lnSpc>
              <a:buNone/>
            </a:pPr>
            <a:r>
              <a:rPr lang="en-US" sz="32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Consumer first — because it is</a:t>
            </a:r>
            <a:endParaRPr lang="en-US" sz="3200" dirty="0"/>
          </a:p>
          <a:p>
            <a:pPr indent="0" marL="0">
              <a:lnSpc>
                <a:spcPts val="3360"/>
              </a:lnSpc>
              <a:buNone/>
            </a:pPr>
            <a:r>
              <a:rPr lang="en-US" sz="32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only fast feedback loop.</a:t>
            </a:r>
            <a:endParaRPr lang="en-US" sz="32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450592"/>
            <a:ext cx="10424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25"/>
              </a:lnSpc>
              <a:buNone/>
            </a:pPr>
            <a:r>
              <a:rPr lang="en-US" sz="125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B2C has no procurement cycle, no buying committee and no clinical gate blocking the sale. Someone arrives, opens a protocol, and either returns or does not. That loop is measured in days. The corporate one is measured in quarters.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777240" y="3154680"/>
            <a:ext cx="10652760" cy="804672"/>
          </a:xfrm>
          <a:prstGeom prst="roundRect">
            <a:avLst>
              <a:gd name="adj" fmla="val 5682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9" name="Text 6"/>
          <p:cNvSpPr txBox="1"/>
          <p:nvPr/>
        </p:nvSpPr>
        <p:spPr>
          <a:xfrm>
            <a:off x="1069848" y="3337560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D8A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MONTHS 1–3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1069848" y="3593592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 the library, open the market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4434840" y="3300984"/>
            <a:ext cx="66751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1"/>
              </a:lnSpc>
              <a:buNone/>
            </a:pPr>
            <a:r>
              <a:rPr lang="en-US" sz="105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more tracks ship. Eight live. The €29 tier opens — €19 for Tracks 02–04, €29 for all eight. First measured conversion number.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777240" y="4050792"/>
            <a:ext cx="10652760" cy="804672"/>
          </a:xfrm>
          <a:prstGeom prst="roundRect">
            <a:avLst>
              <a:gd name="adj" fmla="val 5682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13" name="Text 10"/>
          <p:cNvSpPr txBox="1"/>
          <p:nvPr/>
        </p:nvSpPr>
        <p:spPr>
          <a:xfrm>
            <a:off x="1069848" y="4233672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4E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MONTHS 4–6</a:t>
            </a:r>
            <a:endParaRPr lang="en-US" sz="1000" dirty="0"/>
          </a:p>
        </p:txBody>
      </p:sp>
      <p:sp>
        <p:nvSpPr>
          <p:cNvPr id="14" name="Text 11"/>
          <p:cNvSpPr txBox="1"/>
          <p:nvPr/>
        </p:nvSpPr>
        <p:spPr>
          <a:xfrm>
            <a:off x="1069848" y="4489704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Prove it holds, open B2B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4434840" y="4197096"/>
            <a:ext cx="66751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1"/>
              </a:lnSpc>
              <a:buNone/>
            </a:pPr>
            <a:r>
              <a:rPr lang="en-US" sz="105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cohort reaches its churn test. Clinical gate closes. Two pilots delivered and written up. Sector bundles drafted from real protocol-open data, not assumption.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777240" y="4946904"/>
            <a:ext cx="10652760" cy="804672"/>
          </a:xfrm>
          <a:prstGeom prst="roundRect">
            <a:avLst>
              <a:gd name="adj" fmla="val 5682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17" name="Text 14"/>
          <p:cNvSpPr txBox="1"/>
          <p:nvPr/>
        </p:nvSpPr>
        <p:spPr>
          <a:xfrm>
            <a:off x="1069848" y="5129784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87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 6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1069848" y="5385816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raise conversation opens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4434840" y="5093208"/>
            <a:ext cx="66751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1"/>
              </a:lnSpc>
              <a:buNone/>
            </a:pPr>
            <a:r>
              <a:rPr lang="en-US" sz="105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months of traction, two findings reports, one named reference — built on $15,000 and no paid acquisition.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777240" y="5888736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i="1" dirty="0">
                <a:solidFill>
                  <a:srgbClr val="A69F9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consumer build is a pricing prerequisite, not a content ambition — the €19/€29 split does not exist until eight tracks do. It de-risks the product, not the sale.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777240" y="6583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7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SafeRise Protocol · Business Development Assessment · September 2026</a:t>
            </a:r>
            <a:endParaRPr lang="en-US" sz="900" dirty="0"/>
          </a:p>
        </p:txBody>
      </p:sp>
      <p:sp>
        <p:nvSpPr>
          <p:cNvPr id="22" name="Text 19"/>
          <p:cNvSpPr txBox="1"/>
          <p:nvPr/>
        </p:nvSpPr>
        <p:spPr>
          <a:xfrm>
            <a:off x="11137392" y="65836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A7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</a:t>
            </a:r>
            <a:endParaRPr lang="en-US" sz="9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40" kern="0" dirty="0">
                <a:solidFill>
                  <a:srgbClr val="D8A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MAKES MONTH SIX CREDIBLE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914400"/>
            <a:ext cx="10607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570"/>
              </a:lnSpc>
              <a:buNone/>
            </a:pPr>
            <a:r>
              <a:rPr lang="en-US" sz="34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Ratios first. Volume second.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208483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6"/>
              </a:lnSpc>
              <a:buNone/>
            </a:pPr>
            <a:r>
              <a:rPr lang="en-US" sz="130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this scale an investor is not testing whether we can buy users. They are testing whether the unit economics work when we do. 250 members at 4% churn is a better story than 800 at 12%.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65176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60" kern="0" dirty="0">
                <a:solidFill>
                  <a:srgbClr val="D8A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MUST HIT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77240" y="2962656"/>
            <a:ext cx="10652760" cy="475488"/>
          </a:xfrm>
          <a:prstGeom prst="roundRect">
            <a:avLst>
              <a:gd name="adj" fmla="val 9615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1051560" y="3099816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Free → paid conversion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4343400" y="310896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8A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 3.5%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5897880" y="3099816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20"/>
              </a:lnSpc>
              <a:buNone/>
            </a:pPr>
            <a:r>
              <a:rPr lang="en-US" sz="100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 3% the funnel is the problem, not the reach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777240" y="3511296"/>
            <a:ext cx="10652760" cy="475488"/>
          </a:xfrm>
          <a:prstGeom prst="roundRect">
            <a:avLst>
              <a:gd name="adj" fmla="val 9615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1051560" y="3648456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Monthly churn, paid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343400" y="365760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8A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≤ 6%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5897880" y="3648456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20"/>
              </a:lnSpc>
              <a:buNone/>
            </a:pPr>
            <a:r>
              <a:rPr lang="en-US" sz="100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Above 6% annualises past 50% and every forecast collapses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77240" y="4059936"/>
            <a:ext cx="10652760" cy="475488"/>
          </a:xfrm>
          <a:prstGeom prst="roundRect">
            <a:avLst>
              <a:gd name="adj" fmla="val 9615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 txBox="1"/>
          <p:nvPr/>
        </p:nvSpPr>
        <p:spPr>
          <a:xfrm>
            <a:off x="1051560" y="4197096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Second-protocol open rate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343400" y="42062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8A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 45%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5897880" y="4197096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20"/>
              </a:lnSpc>
              <a:buNone/>
            </a:pPr>
            <a:r>
              <a:rPr lang="en-US" sz="100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Whether the method transfers between states — the whole architecture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777240" y="4608576"/>
            <a:ext cx="10652760" cy="475488"/>
          </a:xfrm>
          <a:prstGeom prst="roundRect">
            <a:avLst>
              <a:gd name="adj" fmla="val 9615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 txBox="1"/>
          <p:nvPr/>
        </p:nvSpPr>
        <p:spPr>
          <a:xfrm>
            <a:off x="1051560" y="4745736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Paying members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4343400" y="475488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8A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 180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897880" y="4745736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20"/>
              </a:lnSpc>
              <a:buNone/>
            </a:pPr>
            <a:r>
              <a:rPr lang="en-US" sz="100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floor at which the two ratios above become meaningful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777240" y="5248656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60" kern="0" dirty="0">
                <a:solidFill>
                  <a:srgbClr val="4E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777240" y="5559552"/>
            <a:ext cx="2011680" cy="457200"/>
          </a:xfrm>
          <a:prstGeom prst="roundRect">
            <a:avLst>
              <a:gd name="adj" fmla="val 10000"/>
            </a:avLst>
          </a:prstGeom>
          <a:solidFill>
            <a:srgbClr val="1C2236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24" name="Text 22"/>
          <p:cNvSpPr txBox="1"/>
          <p:nvPr/>
        </p:nvSpPr>
        <p:spPr>
          <a:xfrm>
            <a:off x="923544" y="5678424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300+ members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2907792" y="5559552"/>
            <a:ext cx="2011680" cy="457200"/>
          </a:xfrm>
          <a:prstGeom prst="roundRect">
            <a:avLst>
              <a:gd name="adj" fmla="val 10000"/>
            </a:avLst>
          </a:prstGeom>
          <a:solidFill>
            <a:srgbClr val="1C2236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26" name="Text 24"/>
          <p:cNvSpPr txBox="1"/>
          <p:nvPr/>
        </p:nvSpPr>
        <p:spPr>
          <a:xfrm>
            <a:off x="3054096" y="5678424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€6,500 MRR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5038344" y="5559552"/>
            <a:ext cx="2011680" cy="457200"/>
          </a:xfrm>
          <a:prstGeom prst="roundRect">
            <a:avLst>
              <a:gd name="adj" fmla="val 10000"/>
            </a:avLst>
          </a:prstGeom>
          <a:solidFill>
            <a:srgbClr val="1C2236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28" name="Text 26"/>
          <p:cNvSpPr txBox="1"/>
          <p:nvPr/>
        </p:nvSpPr>
        <p:spPr>
          <a:xfrm>
            <a:off x="5184648" y="5678424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≥20% on the €29 tier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7168896" y="5559552"/>
            <a:ext cx="2011680" cy="457200"/>
          </a:xfrm>
          <a:prstGeom prst="roundRect">
            <a:avLst>
              <a:gd name="adj" fmla="val 10000"/>
            </a:avLst>
          </a:prstGeom>
          <a:solidFill>
            <a:srgbClr val="1C2236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30" name="Text 28"/>
          <p:cNvSpPr txBox="1"/>
          <p:nvPr/>
        </p:nvSpPr>
        <p:spPr>
          <a:xfrm>
            <a:off x="7315200" y="5678424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pilot reports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9299448" y="5559552"/>
            <a:ext cx="2011680" cy="457200"/>
          </a:xfrm>
          <a:prstGeom prst="roundRect">
            <a:avLst>
              <a:gd name="adj" fmla="val 10000"/>
            </a:avLst>
          </a:prstGeom>
          <a:solidFill>
            <a:srgbClr val="1C2236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32" name="Text 30"/>
          <p:cNvSpPr txBox="1"/>
          <p:nvPr/>
        </p:nvSpPr>
        <p:spPr>
          <a:xfrm>
            <a:off x="9445752" y="5678424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named reference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777240" y="594360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i="1" dirty="0">
                <a:solidFill>
                  <a:srgbClr val="A69F9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If conversion comes in at 2%, that is information rather than failure — but it changes the raise. Path B assumes 4.2%.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777240" y="6583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7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SafeRise Protocol · Business Development Assessment · September 2026</a:t>
            </a:r>
            <a:endParaRPr lang="en-US" sz="900" dirty="0"/>
          </a:p>
        </p:txBody>
      </p:sp>
      <p:sp>
        <p:nvSpPr>
          <p:cNvPr id="35" name="Text 33"/>
          <p:cNvSpPr txBox="1"/>
          <p:nvPr/>
        </p:nvSpPr>
        <p:spPr>
          <a:xfrm>
            <a:off x="11137392" y="65836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A7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40" kern="0" dirty="0">
                <a:solidFill>
                  <a:srgbClr val="D8A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RAISE · PATH A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914400"/>
            <a:ext cx="10607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570"/>
              </a:lnSpc>
              <a:buNone/>
            </a:pPr>
            <a:r>
              <a:rPr lang="en-US" sz="34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€350,000 to breakeven.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201168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6"/>
              </a:lnSpc>
              <a:buNone/>
            </a:pPr>
            <a:r>
              <a:rPr lang="en-US" sz="130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cumulative cash trough is €238,000, reached during year two. €350,000 covers it with a 12 per cent contingency and funds the operation to breakeven in year three — so the next conversation happens from revenue, not from runway.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2880360"/>
            <a:ext cx="10652760" cy="384048"/>
          </a:xfrm>
          <a:prstGeom prst="roundRect">
            <a:avLst>
              <a:gd name="adj" fmla="val 11905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1051560" y="2953512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Engineering — enterprise platform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166360" y="2962656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D8A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€96,000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6903720" y="2962656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39"/>
              </a:lnSpc>
              <a:buNone/>
            </a:pPr>
            <a:r>
              <a:rPr lang="en-US" sz="95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Organisation model, seats, SSO, admin, reporting. Twelve months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777240" y="3319272"/>
            <a:ext cx="10652760" cy="384048"/>
          </a:xfrm>
          <a:prstGeom prst="roundRect">
            <a:avLst>
              <a:gd name="adj" fmla="val 11905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1051560" y="3392424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Marketing lead and acquisition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5166360" y="3401568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D8A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€92,000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6903720" y="3401568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39"/>
              </a:lnSpc>
              <a:buNone/>
            </a:pPr>
            <a:r>
              <a:rPr lang="en-US" sz="95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 generation and the free-track SEO asset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777240" y="3758184"/>
            <a:ext cx="10652760" cy="384048"/>
          </a:xfrm>
          <a:prstGeom prst="roundRect">
            <a:avLst>
              <a:gd name="adj" fmla="val 11905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1051560" y="3831336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Enterprise AE — from month seven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5166360" y="384048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D8A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€48,000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6903720" y="3840480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39"/>
              </a:lnSpc>
              <a:buNone/>
            </a:pPr>
            <a:r>
              <a:rPr lang="en-US" sz="95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Part-year. Carries the corporate number into year two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777240" y="4197096"/>
            <a:ext cx="10652760" cy="384048"/>
          </a:xfrm>
          <a:prstGeom prst="roundRect">
            <a:avLst>
              <a:gd name="adj" fmla="val 11905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 txBox="1"/>
          <p:nvPr/>
        </p:nvSpPr>
        <p:spPr>
          <a:xfrm>
            <a:off x="1051560" y="4270248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Clinical governance and facilitation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5166360" y="4279392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D8A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€34,000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903720" y="4279392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39"/>
              </a:lnSpc>
              <a:buNone/>
            </a:pPr>
            <a:r>
              <a:rPr lang="en-US" sz="95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Retainer, escalation criteria, first contracted facilitators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777240" y="4636008"/>
            <a:ext cx="10652760" cy="384048"/>
          </a:xfrm>
          <a:prstGeom prst="roundRect">
            <a:avLst>
              <a:gd name="adj" fmla="val 11905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22" name="Text 20"/>
          <p:cNvSpPr txBox="1"/>
          <p:nvPr/>
        </p:nvSpPr>
        <p:spPr>
          <a:xfrm>
            <a:off x="1051560" y="4709160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Content — Sleep, Nutrition, Strength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5166360" y="4718304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D8A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€28,000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6903720" y="4718304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39"/>
              </a:lnSpc>
              <a:buNone/>
            </a:pPr>
            <a:r>
              <a:rPr lang="en-US" sz="95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Completes the substrate layer and opens the €29 tier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777240" y="5074920"/>
            <a:ext cx="10652760" cy="384048"/>
          </a:xfrm>
          <a:prstGeom prst="roundRect">
            <a:avLst>
              <a:gd name="adj" fmla="val 11905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26" name="Text 24"/>
          <p:cNvSpPr txBox="1"/>
          <p:nvPr/>
        </p:nvSpPr>
        <p:spPr>
          <a:xfrm>
            <a:off x="1051560" y="5148072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Legal, compliance, entity, insurance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5166360" y="5157216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D8A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€22,000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6903720" y="5157216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39"/>
              </a:lnSpc>
              <a:buNone/>
            </a:pPr>
            <a:r>
              <a:rPr lang="en-US" sz="95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DPA, SCCs, trademark clearance, security review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777240" y="5513832"/>
            <a:ext cx="10652760" cy="384048"/>
          </a:xfrm>
          <a:prstGeom prst="roundRect">
            <a:avLst>
              <a:gd name="adj" fmla="val 11905"/>
            </a:avLst>
          </a:prstGeom>
          <a:solidFill>
            <a:srgbClr val="1C2236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30" name="Text 28"/>
          <p:cNvSpPr txBox="1"/>
          <p:nvPr/>
        </p:nvSpPr>
        <p:spPr>
          <a:xfrm>
            <a:off x="1051560" y="5586984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69F9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Contingency — 12 per cent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5166360" y="5596128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D8A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€38,000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6903720" y="5596128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39"/>
              </a:lnSpc>
              <a:buNone/>
            </a:pPr>
            <a:r>
              <a:rPr lang="en-US" sz="95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gaps not yet visible</a:t>
            </a:r>
            <a:endParaRPr lang="en-US" sz="950" dirty="0"/>
          </a:p>
        </p:txBody>
      </p:sp>
      <p:sp>
        <p:nvSpPr>
          <p:cNvPr id="33" name="Text 31"/>
          <p:cNvSpPr txBox="1"/>
          <p:nvPr/>
        </p:nvSpPr>
        <p:spPr>
          <a:xfrm>
            <a:off x="777240" y="594360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75"/>
              </a:lnSpc>
              <a:buNone/>
            </a:pPr>
            <a:r>
              <a:rPr lang="en-US" sz="1250" i="1" dirty="0">
                <a:solidFill>
                  <a:srgbClr val="A69F9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Capital is not needed to build the product — $202,860 of it is already in. It is needed to buy distribution, delivery capacity and evidence.</a:t>
            </a:r>
            <a:endParaRPr lang="en-US" sz="1250" dirty="0"/>
          </a:p>
        </p:txBody>
      </p:sp>
      <p:sp>
        <p:nvSpPr>
          <p:cNvPr id="34" name="Text 32"/>
          <p:cNvSpPr txBox="1"/>
          <p:nvPr/>
        </p:nvSpPr>
        <p:spPr>
          <a:xfrm>
            <a:off x="777240" y="6583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7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SafeRise Protocol · Business Development Assessment · September 2026</a:t>
            </a:r>
            <a:endParaRPr lang="en-US" sz="900" dirty="0"/>
          </a:p>
        </p:txBody>
      </p:sp>
      <p:sp>
        <p:nvSpPr>
          <p:cNvPr id="35" name="Text 33"/>
          <p:cNvSpPr txBox="1"/>
          <p:nvPr/>
        </p:nvSpPr>
        <p:spPr>
          <a:xfrm>
            <a:off x="11137392" y="65836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A7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</a:t>
            </a:r>
            <a:endParaRPr lang="en-US" sz="9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40" kern="0" dirty="0">
                <a:solidFill>
                  <a:srgbClr val="D8A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RAISE · PATH B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914400"/>
            <a:ext cx="10607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570"/>
              </a:lnSpc>
              <a:buNone/>
            </a:pPr>
            <a:r>
              <a:rPr lang="en-US" sz="34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€500,000 to €1.7M in year two.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2011680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25"/>
              </a:lnSpc>
              <a:buNone/>
            </a:pPr>
            <a:r>
              <a:rPr lang="en-US" sz="125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business, hired ahead of proof instead of behind it. Enterprise platform in month six, three AEs by the start of year two, acquisition funded rather than organic.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1051560" y="2743200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5349240" y="2743200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20" kern="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A · €350,000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8366760" y="2743200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20" kern="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B · €500,000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77240" y="3017520"/>
            <a:ext cx="10652760" cy="320040"/>
          </a:xfrm>
          <a:prstGeom prst="roundRect">
            <a:avLst>
              <a:gd name="adj" fmla="val 14286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1051560" y="3063240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Year 1 revenue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349240" y="3072384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4E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€123,000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8366760" y="3072384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D8A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€283,000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777240" y="3364992"/>
            <a:ext cx="10652760" cy="320040"/>
          </a:xfrm>
          <a:prstGeom prst="roundRect">
            <a:avLst>
              <a:gd name="adj" fmla="val 14286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1051560" y="3410712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Year 2 revenue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349240" y="3419856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4E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€631,000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8366760" y="3419856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D8A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€1,686,000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77240" y="3712464"/>
            <a:ext cx="10652760" cy="320040"/>
          </a:xfrm>
          <a:prstGeom prst="roundRect">
            <a:avLst>
              <a:gd name="adj" fmla="val 14286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1051560" y="3758184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Year 3 revenue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5349240" y="3767328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4E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€1,244,000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8366760" y="3767328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D8A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€3,233,000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777240" y="4059936"/>
            <a:ext cx="10652760" cy="320040"/>
          </a:xfrm>
          <a:prstGeom prst="roundRect">
            <a:avLst>
              <a:gd name="adj" fmla="val 14286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 txBox="1"/>
          <p:nvPr/>
        </p:nvSpPr>
        <p:spPr>
          <a:xfrm>
            <a:off x="1051560" y="4105656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Members, end of year 3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5349240" y="4114800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4E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2,589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8366760" y="4114800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D8A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6,382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777240" y="4407408"/>
            <a:ext cx="10652760" cy="320040"/>
          </a:xfrm>
          <a:prstGeom prst="roundRect">
            <a:avLst>
              <a:gd name="adj" fmla="val 14286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 txBox="1"/>
          <p:nvPr/>
        </p:nvSpPr>
        <p:spPr>
          <a:xfrm>
            <a:off x="1051560" y="4453128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Peak cash need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5349240" y="4462272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4E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€238,000</a:t>
            </a:r>
            <a:endParaRPr lang="en-US" sz="1150" dirty="0"/>
          </a:p>
        </p:txBody>
      </p:sp>
      <p:sp>
        <p:nvSpPr>
          <p:cNvPr id="27" name="Text 25"/>
          <p:cNvSpPr txBox="1"/>
          <p:nvPr/>
        </p:nvSpPr>
        <p:spPr>
          <a:xfrm>
            <a:off x="8366760" y="4462272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D8A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€397,000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777240" y="4754880"/>
            <a:ext cx="10652760" cy="320040"/>
          </a:xfrm>
          <a:prstGeom prst="roundRect">
            <a:avLst>
              <a:gd name="adj" fmla="val 14286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29" name="Text 27"/>
          <p:cNvSpPr txBox="1"/>
          <p:nvPr/>
        </p:nvSpPr>
        <p:spPr>
          <a:xfrm>
            <a:off x="1051560" y="4800600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Breakeven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5349240" y="4809744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4E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 3</a:t>
            </a:r>
            <a:endParaRPr lang="en-US" sz="1150" dirty="0"/>
          </a:p>
        </p:txBody>
      </p:sp>
      <p:sp>
        <p:nvSpPr>
          <p:cNvPr id="31" name="Text 29"/>
          <p:cNvSpPr txBox="1"/>
          <p:nvPr/>
        </p:nvSpPr>
        <p:spPr>
          <a:xfrm>
            <a:off x="8366760" y="4809744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D8A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 2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777240" y="5102352"/>
            <a:ext cx="10652760" cy="320040"/>
          </a:xfrm>
          <a:prstGeom prst="roundRect">
            <a:avLst>
              <a:gd name="adj" fmla="val 14286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33" name="Text 31"/>
          <p:cNvSpPr txBox="1"/>
          <p:nvPr/>
        </p:nvSpPr>
        <p:spPr>
          <a:xfrm>
            <a:off x="1051560" y="5148072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Enterprise platform live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5349240" y="5157216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4E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 12</a:t>
            </a:r>
            <a:endParaRPr lang="en-US" sz="1150" dirty="0"/>
          </a:p>
        </p:txBody>
      </p:sp>
      <p:sp>
        <p:nvSpPr>
          <p:cNvPr id="35" name="Text 33"/>
          <p:cNvSpPr txBox="1"/>
          <p:nvPr/>
        </p:nvSpPr>
        <p:spPr>
          <a:xfrm>
            <a:off x="8366760" y="5157216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D8A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 6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777240" y="5449824"/>
            <a:ext cx="10652760" cy="320040"/>
          </a:xfrm>
          <a:prstGeom prst="roundRect">
            <a:avLst>
              <a:gd name="adj" fmla="val 14286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37" name="Text 35"/>
          <p:cNvSpPr txBox="1"/>
          <p:nvPr/>
        </p:nvSpPr>
        <p:spPr>
          <a:xfrm>
            <a:off x="1051560" y="5495544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Sales headcount, year 2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5349240" y="5504688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4E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AE</a:t>
            </a:r>
            <a:endParaRPr lang="en-US" sz="1150" dirty="0"/>
          </a:p>
        </p:txBody>
      </p:sp>
      <p:sp>
        <p:nvSpPr>
          <p:cNvPr id="39" name="Text 37"/>
          <p:cNvSpPr txBox="1"/>
          <p:nvPr/>
        </p:nvSpPr>
        <p:spPr>
          <a:xfrm>
            <a:off x="8366760" y="5504688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D8A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AEs</a:t>
            </a:r>
            <a:endParaRPr lang="en-US" sz="1150" dirty="0"/>
          </a:p>
        </p:txBody>
      </p:sp>
      <p:sp>
        <p:nvSpPr>
          <p:cNvPr id="40" name="Shape 38"/>
          <p:cNvSpPr/>
          <p:nvPr/>
        </p:nvSpPr>
        <p:spPr>
          <a:xfrm>
            <a:off x="777240" y="5797296"/>
            <a:ext cx="10652760" cy="320040"/>
          </a:xfrm>
          <a:prstGeom prst="roundRect">
            <a:avLst>
              <a:gd name="adj" fmla="val 14286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41" name="Text 39"/>
          <p:cNvSpPr txBox="1"/>
          <p:nvPr/>
        </p:nvSpPr>
        <p:spPr>
          <a:xfrm>
            <a:off x="1051560" y="5843016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Free signups / month, year 2</a:t>
            </a:r>
            <a:endParaRPr lang="en-US" sz="1200" dirty="0"/>
          </a:p>
        </p:txBody>
      </p:sp>
      <p:sp>
        <p:nvSpPr>
          <p:cNvPr id="42" name="Text 40"/>
          <p:cNvSpPr txBox="1"/>
          <p:nvPr/>
        </p:nvSpPr>
        <p:spPr>
          <a:xfrm>
            <a:off x="5349240" y="5852160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4E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4,000</a:t>
            </a:r>
            <a:endParaRPr lang="en-US" sz="1150" dirty="0"/>
          </a:p>
        </p:txBody>
      </p:sp>
      <p:sp>
        <p:nvSpPr>
          <p:cNvPr id="43" name="Text 41"/>
          <p:cNvSpPr txBox="1"/>
          <p:nvPr/>
        </p:nvSpPr>
        <p:spPr>
          <a:xfrm>
            <a:off x="8366760" y="5852160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D8A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9,000</a:t>
            </a:r>
            <a:endParaRPr lang="en-US" sz="1150" dirty="0"/>
          </a:p>
        </p:txBody>
      </p:sp>
      <p:sp>
        <p:nvSpPr>
          <p:cNvPr id="44" name="Text 42"/>
          <p:cNvSpPr txBox="1"/>
          <p:nvPr/>
        </p:nvSpPr>
        <p:spPr>
          <a:xfrm>
            <a:off x="777240" y="5907024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i="1" dirty="0">
                <a:solidFill>
                  <a:srgbClr val="A69F9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Blended acquisition cost is €62 per paying member against €228 of first-year revenue at €19, or €348 at €29. That payback is what makes path B a plan rather than a hope.</a:t>
            </a:r>
            <a:endParaRPr lang="en-US" sz="1200" dirty="0"/>
          </a:p>
        </p:txBody>
      </p:sp>
      <p:sp>
        <p:nvSpPr>
          <p:cNvPr id="45" name="Text 43"/>
          <p:cNvSpPr txBox="1"/>
          <p:nvPr/>
        </p:nvSpPr>
        <p:spPr>
          <a:xfrm>
            <a:off x="777240" y="6583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7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SafeRise Protocol · Business Development Assessment · September 2026</a:t>
            </a:r>
            <a:endParaRPr lang="en-US" sz="900" dirty="0"/>
          </a:p>
        </p:txBody>
      </p:sp>
      <p:sp>
        <p:nvSpPr>
          <p:cNvPr id="46" name="Text 44"/>
          <p:cNvSpPr txBox="1"/>
          <p:nvPr/>
        </p:nvSpPr>
        <p:spPr>
          <a:xfrm>
            <a:off x="11137392" y="65836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A7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</a:t>
            </a:r>
            <a:endParaRPr lang="en-US" sz="9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40" kern="0" dirty="0">
                <a:solidFill>
                  <a:srgbClr val="D8A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RAISE · THE TRADE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914400"/>
            <a:ext cx="10607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360"/>
              </a:lnSpc>
              <a:buNone/>
            </a:pPr>
            <a:r>
              <a:rPr lang="en-US" sz="32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hires behind proof.</a:t>
            </a:r>
            <a:endParaRPr lang="en-US" sz="3200" dirty="0"/>
          </a:p>
          <a:p>
            <a:pPr indent="0" marL="0">
              <a:lnSpc>
                <a:spcPts val="3360"/>
              </a:lnSpc>
              <a:buNone/>
            </a:pPr>
            <a:r>
              <a:rPr lang="en-US" sz="32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other hires ahead of it.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77240" y="2606040"/>
            <a:ext cx="5120640" cy="2834640"/>
          </a:xfrm>
          <a:prstGeom prst="roundRect">
            <a:avLst>
              <a:gd name="adj" fmla="val 1613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1069848" y="28346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4E9AA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Path A · €350,000</a:t>
            </a:r>
            <a:endParaRPr lang="en-US" sz="2100" dirty="0"/>
          </a:p>
        </p:txBody>
      </p:sp>
      <p:sp>
        <p:nvSpPr>
          <p:cNvPr id="6" name="Text 4"/>
          <p:cNvSpPr txBox="1"/>
          <p:nvPr/>
        </p:nvSpPr>
        <p:spPr>
          <a:xfrm>
            <a:off x="1069848" y="3291840"/>
            <a:ext cx="4572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704"/>
              </a:lnSpc>
              <a:spcAft>
                <a:spcPts val="700"/>
              </a:spcAft>
              <a:buSzPct val="100000"/>
              <a:buChar char="◇"/>
            </a:pPr>
            <a:r>
              <a:rPr lang="en-US" sz="120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Founder carries the corporate pipeline through year two</a:t>
            </a:r>
            <a:endParaRPr lang="en-US" sz="1200" dirty="0"/>
          </a:p>
          <a:p>
            <a:pPr marL="342900" indent="-342900">
              <a:lnSpc>
                <a:spcPts val="1704"/>
              </a:lnSpc>
              <a:spcAft>
                <a:spcPts val="700"/>
              </a:spcAft>
              <a:buSzPct val="100000"/>
              <a:buChar char="◇"/>
            </a:pPr>
            <a:r>
              <a:rPr lang="en-US" sz="120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AE, one marketing lead, one engineer</a:t>
            </a:r>
            <a:endParaRPr lang="en-US" sz="1200" dirty="0"/>
          </a:p>
          <a:p>
            <a:pPr marL="342900" indent="-342900">
              <a:lnSpc>
                <a:spcPts val="1704"/>
              </a:lnSpc>
              <a:spcAft>
                <a:spcPts val="700"/>
              </a:spcAft>
              <a:buSzPct val="100000"/>
              <a:buChar char="◇"/>
            </a:pPr>
            <a:r>
              <a:rPr lang="en-US" sz="120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Breakeven in year three at €1.24M</a:t>
            </a:r>
            <a:endParaRPr lang="en-US" sz="1200" dirty="0"/>
          </a:p>
          <a:p>
            <a:pPr marL="342900" indent="-342900">
              <a:lnSpc>
                <a:spcPts val="1704"/>
              </a:lnSpc>
              <a:spcAft>
                <a:spcPts val="700"/>
              </a:spcAft>
              <a:buSzPct val="100000"/>
              <a:buChar char="◇"/>
            </a:pPr>
            <a:r>
              <a:rPr lang="en-US" sz="120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hire follows evidence</a:t>
            </a:r>
            <a:endParaRPr lang="en-US" sz="1200" dirty="0"/>
          </a:p>
          <a:p>
            <a:pPr marL="342900" indent="-342900">
              <a:lnSpc>
                <a:spcPts val="1704"/>
              </a:lnSpc>
              <a:spcAft>
                <a:spcPts val="700"/>
              </a:spcAft>
              <a:buSzPct val="100000"/>
              <a:buChar char="◇"/>
            </a:pPr>
            <a:r>
              <a:rPr lang="en-US" sz="120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Survives a 2% conversion rate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309360" y="2606040"/>
            <a:ext cx="5120640" cy="2834640"/>
          </a:xfrm>
          <a:prstGeom prst="roundRect">
            <a:avLst>
              <a:gd name="adj" fmla="val 1613"/>
            </a:avLst>
          </a:prstGeom>
          <a:solidFill>
            <a:srgbClr val="1C2236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6601968" y="28346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D8A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Path B · €500,000</a:t>
            </a:r>
            <a:endParaRPr lang="en-US" sz="2100" dirty="0"/>
          </a:p>
        </p:txBody>
      </p:sp>
      <p:sp>
        <p:nvSpPr>
          <p:cNvPr id="9" name="Text 7"/>
          <p:cNvSpPr txBox="1"/>
          <p:nvPr/>
        </p:nvSpPr>
        <p:spPr>
          <a:xfrm>
            <a:off x="6601968" y="3291840"/>
            <a:ext cx="4572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704"/>
              </a:lnSpc>
              <a:spcAft>
                <a:spcPts val="700"/>
              </a:spcAft>
              <a:buSzPct val="100000"/>
              <a:buChar char="◇"/>
            </a:pPr>
            <a:r>
              <a:rPr lang="en-US" sz="120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platform shipped in month six</a:t>
            </a:r>
            <a:endParaRPr lang="en-US" sz="1200" dirty="0"/>
          </a:p>
          <a:p>
            <a:pPr marL="342900" indent="-342900">
              <a:lnSpc>
                <a:spcPts val="1704"/>
              </a:lnSpc>
              <a:spcAft>
                <a:spcPts val="700"/>
              </a:spcAft>
              <a:buSzPct val="100000"/>
              <a:buChar char="◇"/>
            </a:pPr>
            <a:r>
              <a:rPr lang="en-US" sz="120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AEs and funded acquisition from year two</a:t>
            </a:r>
            <a:endParaRPr lang="en-US" sz="1200" dirty="0"/>
          </a:p>
          <a:p>
            <a:pPr marL="342900" indent="-342900">
              <a:lnSpc>
                <a:spcPts val="1704"/>
              </a:lnSpc>
              <a:spcAft>
                <a:spcPts val="700"/>
              </a:spcAft>
              <a:buSzPct val="100000"/>
              <a:buChar char="◇"/>
            </a:pPr>
            <a:r>
              <a:rPr lang="en-US" sz="120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Breakeven in year two at €1.69M</a:t>
            </a:r>
            <a:endParaRPr lang="en-US" sz="1200" dirty="0"/>
          </a:p>
          <a:p>
            <a:pPr marL="342900" indent="-342900">
              <a:lnSpc>
                <a:spcPts val="1704"/>
              </a:lnSpc>
              <a:spcAft>
                <a:spcPts val="700"/>
              </a:spcAft>
              <a:buSzPct val="100000"/>
              <a:buChar char="◇"/>
            </a:pPr>
            <a:r>
              <a:rPr lang="en-US" sz="120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AE hired before the motion is proven</a:t>
            </a:r>
            <a:endParaRPr lang="en-US" sz="1200" dirty="0"/>
          </a:p>
          <a:p>
            <a:pPr marL="342900" indent="-342900">
              <a:lnSpc>
                <a:spcPts val="1704"/>
              </a:lnSpc>
              <a:spcAft>
                <a:spcPts val="700"/>
              </a:spcAft>
              <a:buSzPct val="100000"/>
              <a:buChar char="◇"/>
            </a:pPr>
            <a:r>
              <a:rPr lang="en-US" sz="120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the 4.2% conversion rate to hold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55778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50"/>
              </a:lnSpc>
              <a:buNone/>
            </a:pPr>
            <a:r>
              <a:rPr lang="en-US" sz="1300" i="1" dirty="0">
                <a:solidFill>
                  <a:srgbClr val="A69F9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Path B is worth more if it works and loses more if it does not. The variable that decides it is conversion — and nobody knows it yet, because no one has paid.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6035040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44"/>
              </a:lnSpc>
              <a:buNone/>
            </a:pPr>
            <a:r>
              <a:rPr lang="en-US" sz="120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A produces that number in month six. It is available as a first tranche.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777240" y="6583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7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SafeRise Protocol · Business Development Assessment · September 2026</a:t>
            </a:r>
            <a:endParaRPr lang="en-US" sz="900" dirty="0"/>
          </a:p>
        </p:txBody>
      </p:sp>
      <p:sp>
        <p:nvSpPr>
          <p:cNvPr id="13" name="Text 11"/>
          <p:cNvSpPr txBox="1"/>
          <p:nvPr/>
        </p:nvSpPr>
        <p:spPr>
          <a:xfrm>
            <a:off x="11137392" y="65836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A7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</a:t>
            </a:r>
            <a:endParaRPr lang="en-US" sz="9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40" kern="0" dirty="0">
                <a:solidFill>
                  <a:srgbClr val="D8A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RAISE · WHAT IT PROVES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914400"/>
            <a:ext cx="10607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570"/>
              </a:lnSpc>
              <a:buNone/>
            </a:pPr>
            <a:r>
              <a:rPr lang="en-US" sz="34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milestones, in order.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777240" y="2148840"/>
            <a:ext cx="10652760" cy="1078992"/>
          </a:xfrm>
          <a:prstGeom prst="roundRect">
            <a:avLst>
              <a:gd name="adj" fmla="val 4237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1069848" y="2350008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D8A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MONTH 6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069848" y="265176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Willingness to pay, established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4709160" y="2350008"/>
            <a:ext cx="6400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63"/>
              </a:lnSpc>
              <a:buNone/>
            </a:pPr>
            <a:r>
              <a:rPr lang="en-US" sz="115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conversion rate from real signups. Two pilot findings reports written. First paid workshops and 1:1 delivered. The clinical gate closed.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777240" y="3319272"/>
            <a:ext cx="10652760" cy="1078992"/>
          </a:xfrm>
          <a:prstGeom prst="roundRect">
            <a:avLst>
              <a:gd name="adj" fmla="val 4237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1069848" y="352044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4E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MONTH 12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1069848" y="382219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corporate engine, running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4709160" y="3520440"/>
            <a:ext cx="6400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63"/>
              </a:lnSpc>
              <a:buNone/>
            </a:pPr>
            <a:r>
              <a:rPr lang="en-US" sz="115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platform live — organisations, seats, SSO, reporting. First annual access contracts signed. One named reference customer. Eight tracks live and the €29 tier open.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777240" y="4489704"/>
            <a:ext cx="10652760" cy="1078992"/>
          </a:xfrm>
          <a:prstGeom prst="roundRect">
            <a:avLst>
              <a:gd name="adj" fmla="val 4237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1069848" y="4690872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87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MONTH 30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1069848" y="4992624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Breakeven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4709160" y="4690872"/>
            <a:ext cx="6400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63"/>
              </a:lnSpc>
              <a:buNone/>
            </a:pPr>
            <a:r>
              <a:rPr lang="en-US" sz="115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€1.2M run-rate. 2,500+ paying members. A corporate pipeline carried by an AE rather than the founder. The next conversation happens from revenue.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777240" y="5705856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i="1" dirty="0">
                <a:solidFill>
                  <a:srgbClr val="A69F9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milestone that de-risks everything is not revenue. It is two written pilot findings reports and a named reference customer — because that is the first question every organisational buyer asks.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583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7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SafeRise Protocol · Business Development Assessment · September 2026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1137392" y="65836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A7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</a:t>
            </a:r>
            <a:endParaRPr lang="en-US" sz="9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40" kern="0" dirty="0">
                <a:solidFill>
                  <a:srgbClr val="D8A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RISK REGISTER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914400"/>
            <a:ext cx="10607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570"/>
              </a:lnSpc>
              <a:buNone/>
            </a:pPr>
            <a:r>
              <a:rPr lang="en-US" sz="34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not yet true.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777240" y="1920240"/>
            <a:ext cx="10652760" cy="429768"/>
          </a:xfrm>
          <a:prstGeom prst="roundRect">
            <a:avLst>
              <a:gd name="adj" fmla="val 10638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1051560" y="2020824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7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Distribution does not exist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4389120" y="2011680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8"/>
              </a:lnSpc>
              <a:buNone/>
            </a:pPr>
            <a:r>
              <a:rPr lang="en-US" sz="90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forecast assumes 400–1,200 free signups monthly by year three. No mechanism currently produces one. The site is not indexed and there is no ad budget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777240" y="2414016"/>
            <a:ext cx="10652760" cy="429768"/>
          </a:xfrm>
          <a:prstGeom prst="roundRect">
            <a:avLst>
              <a:gd name="adj" fmla="val 10638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1051560" y="25146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7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Zero paying members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4389120" y="2505456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8"/>
              </a:lnSpc>
              <a:buNone/>
            </a:pPr>
            <a:r>
              <a:rPr lang="en-US" sz="90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capacity is proven beyond argument. Willingness to pay is entirely untested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777240" y="2907792"/>
            <a:ext cx="10652760" cy="429768"/>
          </a:xfrm>
          <a:prstGeom prst="roundRect">
            <a:avLst>
              <a:gd name="adj" fmla="val 10638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1051560" y="3008376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7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Facilitator capacity is the B2B ceiling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4389120" y="2999232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8"/>
              </a:lnSpc>
              <a:buNone/>
            </a:pPr>
            <a:r>
              <a:rPr lang="en-US" sz="90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Roughly four hours a month exists. Annual access at the top band cannot be sold before a second facilitator is contracted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777240" y="3401568"/>
            <a:ext cx="10652760" cy="429768"/>
          </a:xfrm>
          <a:prstGeom prst="roundRect">
            <a:avLst>
              <a:gd name="adj" fmla="val 10638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1051560" y="350215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7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organisation data model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4389120" y="349300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8"/>
              </a:lnSpc>
              <a:buNone/>
            </a:pPr>
            <a:r>
              <a:rPr lang="en-US" sz="90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Seats belong to individuals. Nothing represents an organisation, provisions seats, or produces the quarterly seats-in-use figure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777240" y="3895344"/>
            <a:ext cx="10652760" cy="429768"/>
          </a:xfrm>
          <a:prstGeom prst="roundRect">
            <a:avLst>
              <a:gd name="adj" fmla="val 10638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1051560" y="399592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7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Clinical contracting incomplete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4389120" y="3986784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8"/>
              </a:lnSpc>
              <a:buNone/>
            </a:pPr>
            <a:r>
              <a:rPr lang="en-US" sz="90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lead in place; licensed third-party practitioners not yet contracted for the tracks that require them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777240" y="4389120"/>
            <a:ext cx="10652760" cy="429768"/>
          </a:xfrm>
          <a:prstGeom prst="roundRect">
            <a:avLst>
              <a:gd name="adj" fmla="val 10638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 txBox="1"/>
          <p:nvPr/>
        </p:nvSpPr>
        <p:spPr>
          <a:xfrm>
            <a:off x="1051560" y="4489704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7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external launch gates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4389120" y="4480560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8"/>
              </a:lnSpc>
              <a:buNone/>
            </a:pPr>
            <a:r>
              <a:rPr lang="en-US" sz="90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Supabase provisioning and Paddle seller approval. Both outside founder control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777240" y="4882896"/>
            <a:ext cx="10652760" cy="429768"/>
          </a:xfrm>
          <a:prstGeom prst="roundRect">
            <a:avLst>
              <a:gd name="adj" fmla="val 10638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 txBox="1"/>
          <p:nvPr/>
        </p:nvSpPr>
        <p:spPr>
          <a:xfrm>
            <a:off x="1051560" y="49834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7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Trademark proximity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4389120" y="4974336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8"/>
              </a:lnSpc>
              <a:buNone/>
            </a:pPr>
            <a:r>
              <a:rPr lang="en-US" sz="90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adjacent iOS product markets itself as “Regulate. Rewire. Rise.” To be cleared before wide launch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777240" y="5376672"/>
            <a:ext cx="10652760" cy="429768"/>
          </a:xfrm>
          <a:prstGeom prst="roundRect">
            <a:avLst>
              <a:gd name="adj" fmla="val 10638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26" name="Text 24"/>
          <p:cNvSpPr txBox="1"/>
          <p:nvPr/>
        </p:nvSpPr>
        <p:spPr>
          <a:xfrm>
            <a:off x="1051560" y="5477256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7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acute short-form format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4389120" y="5468112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8"/>
              </a:lnSpc>
              <a:buNone/>
            </a:pPr>
            <a:r>
              <a:rPr lang="en-US" sz="90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safety-critical sector needs something usable in a patrol car or between cases. The shortest resource in the library is far longer. A 90-second format is unbuilt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777240" y="5870448"/>
            <a:ext cx="10652760" cy="429768"/>
          </a:xfrm>
          <a:prstGeom prst="roundRect">
            <a:avLst>
              <a:gd name="adj" fmla="val 10638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29" name="Text 27"/>
          <p:cNvSpPr txBox="1"/>
          <p:nvPr/>
        </p:nvSpPr>
        <p:spPr>
          <a:xfrm>
            <a:off x="1051560" y="597103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7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Implementation drift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4389120" y="59618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8"/>
              </a:lnSpc>
              <a:buNone/>
            </a:pPr>
            <a:r>
              <a:rPr lang="en-US" sz="90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Enough versions and decisions now exist that reviving a retired choice is the live operational risk. Decision-priority rules are documented</a:t>
            </a:r>
            <a:endParaRPr lang="en-US" sz="900" dirty="0"/>
          </a:p>
        </p:txBody>
      </p:sp>
      <p:sp>
        <p:nvSpPr>
          <p:cNvPr id="31" name="Text 29"/>
          <p:cNvSpPr txBox="1"/>
          <p:nvPr/>
        </p:nvSpPr>
        <p:spPr>
          <a:xfrm>
            <a:off x="777240" y="6089904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50"/>
              </a:lnSpc>
              <a:buNone/>
            </a:pPr>
            <a:r>
              <a:rPr lang="en-US" sz="1300" i="1" dirty="0">
                <a:solidFill>
                  <a:srgbClr val="A69F9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deck that hides its biggest risk is worth less than one that names it.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777240" y="6583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7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SafeRise Protocol · Business Development Assessment · September 2026</a:t>
            </a:r>
            <a:endParaRPr lang="en-US" sz="900" dirty="0"/>
          </a:p>
        </p:txBody>
      </p:sp>
      <p:sp>
        <p:nvSpPr>
          <p:cNvPr id="33" name="Text 31"/>
          <p:cNvSpPr txBox="1"/>
          <p:nvPr/>
        </p:nvSpPr>
        <p:spPr>
          <a:xfrm>
            <a:off x="11137392" y="65836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A7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</a:t>
            </a:r>
            <a:endParaRPr lang="en-US" sz="9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D8AA43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777240" y="146304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40" kern="0" dirty="0">
                <a:solidFill>
                  <a:srgbClr val="D8A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POSITION, IN ONE LINE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920240"/>
            <a:ext cx="91440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200"/>
              </a:lnSpc>
              <a:buNone/>
            </a:pPr>
            <a:r>
              <a:rPr lang="en-US" sz="40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finished product</a:t>
            </a:r>
            <a:endParaRPr lang="en-US" sz="4000" dirty="0"/>
          </a:p>
          <a:p>
            <a:pPr indent="0" marL="0">
              <a:lnSpc>
                <a:spcPts val="5200"/>
              </a:lnSpc>
              <a:buNone/>
            </a:pPr>
            <a:r>
              <a:rPr lang="en-US" sz="40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an unconsolidated market,</a:t>
            </a:r>
            <a:endParaRPr lang="en-US" sz="4000" dirty="0"/>
          </a:p>
          <a:p>
            <a:pPr indent="0" marL="0">
              <a:lnSpc>
                <a:spcPts val="5200"/>
              </a:lnSpc>
              <a:buNone/>
            </a:pPr>
            <a:r>
              <a:rPr lang="en-US" sz="40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looking for reach.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4434840"/>
            <a:ext cx="8778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68"/>
              </a:lnSpc>
              <a:buNone/>
            </a:pPr>
            <a:r>
              <a:rPr lang="en-US" sz="140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$202,860 of work is in. Thirty protocols, three tracks, four revenue streams and two expansion axes are specified and built. The top five competitors hold 15% of the market between them. What is missing is distribution. €350,000 reaches breakeven; €500,000 reaches €1.7M in year two.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777240" y="5760720"/>
            <a:ext cx="2011680" cy="0"/>
          </a:xfrm>
          <a:prstGeom prst="line">
            <a:avLst/>
          </a:prstGeom>
          <a:noFill/>
          <a:ln w="12700">
            <a:solidFill>
              <a:srgbClr val="D8AA43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777240" y="59893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8A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Andre Robley  ·  thesaferiseprotocol.com  ·  Kenor International B.V.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41</Slides>
  <Notes>41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41</vt:i4>
      </vt:variant>
    </vt:vector>
  </HeadingPairs>
  <TitlesOfParts>
    <vt:vector size="4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SafeRise Protocol — Business Development Assessment</dc:title>
  <dc:subject>PptxGenJS Presentation</dc:subject>
  <dc:creator>SafeRise Protocol · Kenor International B.V.</dc:creator>
  <cp:lastModifiedBy>SafeRise Protocol · Kenor International B.V.</cp:lastModifiedBy>
  <cp:revision>1</cp:revision>
  <dcterms:created xsi:type="dcterms:W3CDTF">2026-09-14T16:48:59Z</dcterms:created>
  <dcterms:modified xsi:type="dcterms:W3CDTF">2026-09-14T16:48:59Z</dcterms:modified>
</cp:coreProperties>
</file>