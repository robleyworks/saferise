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62955</c:v>
                </c:pt>
                <c:pt idx="1">
                  <c:v>144002</c:v>
                </c:pt>
                <c:pt idx="2">
                  <c:v>248307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97177</c:v>
                </c:pt>
                <c:pt idx="1">
                  <c:v>256823</c:v>
                </c:pt>
                <c:pt idx="2">
                  <c:v>454998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Optimistic</c:v>
                </c:pt>
              </c:strCache>
            </c:strRef>
          </c:tx>
          <c:spPr>
            <a:solidFill>
              <a:srgbClr val="E87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142862</c:v>
                </c:pt>
                <c:pt idx="1">
                  <c:v>417316</c:v>
                </c:pt>
                <c:pt idx="2">
                  <c:v>748621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123472</c:v>
                </c:pt>
                <c:pt idx="1">
                  <c:v>630751</c:v>
                </c:pt>
                <c:pt idx="2">
                  <c:v>1244485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281874</c:v>
                </c:pt>
                <c:pt idx="1">
                  <c:v>654938</c:v>
                </c:pt>
                <c:pt idx="2">
                  <c:v>974424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deck. Supersedes the earlier business summary and merges the GTM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between market failure and the position. The cost of an unregulated state in ordinary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55648" y="-18288"/>
            <a:ext cx="15727680" cy="68945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0F1420">
              <a:alpha val="5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as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protocol system for emotional regulation — helping people recover enough internal resource and command of attention to perceive more clearly, judge more soundly, and respond more deliberately.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534924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development assessment  ·  Andre Robley  ·  Kenor International B.V.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Large, compounding, and unusually unconsolidated.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$9.45B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apps, 2026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14.8%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to 2031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by the top five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869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US corporate wellness app programmes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114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health apps market was valued at $8.40B in 2025 and is estimated to reach $18.81B by 2031. The wider wellness apps market runs $14.81B in 2026 toward $51.12B by 2035.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377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— Calm, Headspace, Talkspace, Teladoc, Woebot — held roughly 15% between them in 2025, the leader under 6%. This is not a market with an incumbent to displace. It is a market with room underneath.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MARKET FAILS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failures, both structural.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62432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249631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users report data-security concerns limit their engagement. Every major platform stores emotional data on its own servers.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92440" y="2697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are device-only. Never synced, never opened to leadership.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402336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44074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427939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lack of personalisation as the limit. Generic calm content cannot meet a specific state at the moment it arrives.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4480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protocols, each routed to a named state — not a content library.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feature gap. Both follow from business models built on data capture and undifferentiated content — which is why an incumbent cannot copy the answer without giving up the model underneath.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0"/>
            <a:ext cx="156819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20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F1420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3736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stay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one place.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03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lost to a mind that will not close.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Patience spent before evening begins.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delayed because clarity is out of reach.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525780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54864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passes. Its effects do not — they land in the ordinary hours, and on the people nearby.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systems teach calm.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teaches understanding.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is not the destination. It is the condition that makes clear perception possible.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of regulation is not relief. It is the recovered capacity to choose what happens next — which is why the product is defined by what it refuses as much as by what it offers.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generic wellness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515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course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gamified self-improvement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therapy replacement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8912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4515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luxury wellness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0100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5703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outcome promise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DOCTRINE AND METHOD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sequence. Every protocol.</a:t>
            </a:r>
            <a:endParaRPr lang="en-US" sz="3200" dirty="0"/>
          </a:p>
        </p:txBody>
      </p:sp>
      <p:pic>
        <p:nvPicPr>
          <p:cNvPr id="4" name="Image 0" descr="method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65960"/>
            <a:ext cx="12188952" cy="2194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1965960"/>
            <a:ext cx="12188952" cy="2194560"/>
          </a:xfrm>
          <a:prstGeom prst="rect">
            <a:avLst/>
          </a:prstGeom>
          <a:solidFill>
            <a:srgbClr val="0F1420">
              <a:alpha val="4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1965960"/>
            <a:ext cx="12188952" cy="457200"/>
          </a:xfrm>
          <a:prstGeom prst="rect">
            <a:avLst/>
          </a:prstGeom>
          <a:solidFill>
            <a:srgbClr val="0F1420">
              <a:alpha val="8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3703320"/>
            <a:ext cx="12188952" cy="4572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 →  Awareness  →  Authorship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experience into view without diagnosis or fixed identity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enough steadiness to regain command of attention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struggle, self-blame and the demand to resolve everything now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deliberate participation, and a caring action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four steps run in every protocol, on every track, and in every language it is translated into. That consistency is the product.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layers. Most programmes work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WHAT WE TRAIN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Noticing the state, regulating it, recovering choice.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below every skill you have trained and above every decision made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25696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8304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IT DEPENDS 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Substrate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4718304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nutrition, training load, chronic stress.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18304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that capacity is physically available at 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WHERE IT LANDS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Conversations, decisions, performance, the shift.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layer most wellbeing and L&amp;D spend touches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14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arrow runs both ways. Degraded capacity produces the decisions that wreck sleep; poor sleep degrades capacity further. SafeRise is where a person can interrupt that loop rather than be carried by it.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Sleep, Nutrition and Strength are not adjacent markets. Without substrate there is no capacity, and the platform would be teaching people to regulate on an empty tank.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SURVIVES CLINICAL SCRUTINY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frameworks, tiered by evidence.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— LEADS EVERY CLINICAL AND INVESTOR CONVERSATION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4963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Porges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505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Polyvagal Theory — autonomic state and safety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907792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008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HeartMath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017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coherence — heart-rhythm and regulation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419856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3520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Kross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5295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Distanced self-talk — perspective and rumination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133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PRACTICE AND INTERPRETIVE — LABELLED AS SUCH, NEVER PRESENTED AS MECHANISM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44398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535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Compassionate Inquiry — clinical practice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5029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50383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and individuation — interpretive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43153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5229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5532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Non-resistance — interpretive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87044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tiering is the defence. A reviewer who challenges Jung finds it already labelled interpretive — with the peer-reviewed layer standing independently underneath.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things this product will never say.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3272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25696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81728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guaranteed outcomes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74152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30184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 personal experience is universal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promise of curing anxiety or trauma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dependency mechanics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74152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gamification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to complete a transformation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25696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unsupported physiological claims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74152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0184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trauma narratives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3272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requirement to find a root cause first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81728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framing that outside support is unnecessary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8521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Lived experience, metaphor, plausible mechanism and established evidence are held apart at every layer — and the separation is audited, not assumed.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PUBLIC LAYER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before persuasion.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homepage has one job: build recognition. Not explain the method, not present the science, not sell a plan.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Documentary hero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172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sentence from a real experience, not a value proposition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721608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9848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bridge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9227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 before it names the product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471416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69848" y="4654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contextual doors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67258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my own · With someone · At work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5221224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540410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only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4223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tracks appear as direction, never as product cards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arriving in distress reaches the protocol they came for without passing through a sales moment.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MEMBER LAYER AND DEPTH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onboarding cliff.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resources behind every protocol.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member layer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in on the first screen — settle, continue, or answer two questions and be routed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intake form, no labels, no assessment to finish before anything is useful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management sits with account settings, away from protocol navigation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they build stays on their own device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0196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session · somatic release · explanation · perspectives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card · disclosure language · private journal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who finishes one protocol finds eleven more things behind it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the retention mechanism, not streaks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151,773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assets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BRAND SYSTEM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visual language across every protocol.</a:t>
            </a:r>
            <a:endParaRPr lang="en-US" sz="3400" dirty="0"/>
          </a:p>
        </p:txBody>
      </p:sp>
      <p:pic>
        <p:nvPicPr>
          <p:cNvPr id="4" name="Image 0" descr="p_07403d6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1636776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pic>
        <p:nvPicPr>
          <p:cNvPr id="6" name="Image 1" descr="p_07c063e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240280"/>
            <a:ext cx="1636776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42032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pic>
        <p:nvPicPr>
          <p:cNvPr id="8" name="Image 2" descr="p_53ce5c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240280"/>
            <a:ext cx="1636776" cy="22128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306824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pic>
        <p:nvPicPr>
          <p:cNvPr id="10" name="Image 3" descr="p_8d3fd5e5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2240280"/>
            <a:ext cx="1636776" cy="2212848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71616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pic>
        <p:nvPicPr>
          <p:cNvPr id="12" name="Image 4" descr="p_97f4075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6408" y="2240280"/>
            <a:ext cx="1636776" cy="2212848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7836408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pic>
        <p:nvPicPr>
          <p:cNvPr id="14" name="Image 5" descr="p_fdc2de3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240280"/>
            <a:ext cx="1636776" cy="2212848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960120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word, title, promise. A fixed four-level card hierarchy, a controlled palette per track, and image rules covering encoding, crop, representation and emotional accuracy — nothing enters the repository unchecked.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777240" y="5760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hundred images, one rulebook. A member recognises a protocol before they read its name, and a buyer sees a system rather than a collection.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1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SEGMENTATION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events, not personas.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 not buy regulation because they find nervous systems interesting. They buy at a moment — and the moment selects the track.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Rupture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8072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breaks, or nearly does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4108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Healing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21868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337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355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Anxiety, anger or shutdown becomes unmanageable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Transformation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76732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90448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Promotion, visibility, a room that judges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886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Performance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31596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Depletion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788920" y="44531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Burnout, decision fatigue, arrival that feels like nothing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4434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· Elevation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486460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4983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parent, separation, relocation, career change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4983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tracks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" y="54132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1560" y="5532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55504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Intimacy, discipline, the body, money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641080" y="5532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roadmap tracks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event recurs across a life. Someone who arrives at rupture returns at exposure — which is what makes cumulative access the correct commercial architecture.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streams. Four buyers. One asset.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084832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03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23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individual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221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01 free · €19 / month, €190 /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542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every other track, and every track added after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72600" y="2359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980944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99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1:1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19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high-intent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118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€129 · €349 for three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4381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rate €79 · €199 while the market is tested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260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877056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315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community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40142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 single · €39 per couple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4334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Remote. Global reach, no venue cost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372600" y="4151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773168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1560" y="4892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4910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 · retreat · annual access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429000" y="52303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Banded by headcount, waterfall tiered. Never by usage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372600" y="50474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high 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content asset serves all four. A protocol written once is sold to an individual, delivered in a session, taught in a workshop and licensed to an employer — with no additional production cost.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199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€29 premium consumer tier is under consideration as the library grows. Not live, not forecast.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SEAT INCLUDES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library. Plus what is yours.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10652760" cy="1783080"/>
          </a:xfrm>
          <a:prstGeom prst="roundRect">
            <a:avLst>
              <a:gd name="adj" fmla="val 2564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377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LIBRARY · EVERY MEMBER, EVERY ORGANISATIONAL SEAT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Transformation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 Healing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Presence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9809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&amp; Recovery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Nutrition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&amp; Return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Elevation Series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 by sector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and emergency · Finance, legal and professional services · Technology and engineering · Manufacturing and logistics · Sales and client-facing · Leadership and people managers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sector gets a different route through the same library, and the facilitated sessions follow that route. Nobody has to predict who needs what — a person whose strain changes does not need a different licence.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ENGINE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seller already knows this buyer.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SafeRise’s corporate offer is an employee-experience product — the exact category sold for a decade. Jamf: employee technology enablement. HashiCorp: IT operations. Both into HR, IT and Operations committees, through procurement and legal, at five and six figures.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6118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new market. A different product into a buyer and a buying process already understood.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35240" y="22860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470+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logos acquired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35240" y="32004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360+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territory built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35240" y="41148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0956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€5M+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delivered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forbidden from promising results.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Productivity, optimise, efficiency, output, performance target — the words an HR buyer uses to justify a budget line — are prohibited. We do not break the rule. We sell four things that are true instead: a defined facilitated day · privacy by architecture · verifiable qualification · and the refusal itself.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warm network already exists. Reactivating it is the highest-yield channel available, and it costs nothing.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buyers. Three budgets.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offer is not one product sold to one department. It is three, on three separate budget lines — and the second and third do not depend on the first being bought.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788920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Preventative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558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provision for the whole population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3008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· Chief People Officer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 budget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813048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under pressure, department-specific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032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Sales · VP Engineering · Head of Trading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32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or departmental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4361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4837176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698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recovery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5404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after an incident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056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C-suite · Chief Legal · Chief Risk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38581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549640" y="5056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or risk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549640" y="53858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6035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middle tier bypasses HR entirely. A VP of Engineering with an on-call problem has their own budget and does not need a wellbeing mandate to spend it.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ork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2651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651760"/>
          </a:xfrm>
          <a:prstGeom prst="rect">
            <a:avLst/>
          </a:prstGeom>
          <a:solidFill>
            <a:srgbClr val="0F1420">
              <a:alpha val="7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1920240"/>
            <a:ext cx="12188952" cy="731520"/>
          </a:xfrm>
          <a:prstGeom prst="rect">
            <a:avLst/>
          </a:prstGeom>
          <a:solidFill>
            <a:srgbClr val="0F1420">
              <a:alpha val="94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MAP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state is the job hazard.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777240" y="2852928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9848" y="3035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48840" y="29900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 · Technology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29992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Hyper-arousal, chronic vigilance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High-Stakes Presence · Burnout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77240" y="3529584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69848" y="3712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66674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· Legal · Mental health · Social care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6758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Shutdown, compassion fatigue, exposure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675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Recovery · Grief Integration · Perfectionism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7240" y="4206240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9848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C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4343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Aviation · Manufacturing · Logistics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80760" y="435254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overload, sustained arousal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3525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Overwhelm Threshold · Conflict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4882896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69848" y="5065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50200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080760" y="5029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Budget-constrained, district licence reaches hundreds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91540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Navigation · Burnout · Overwhelm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541264"/>
            <a:ext cx="10652760" cy="548640"/>
          </a:xfrm>
          <a:prstGeom prst="roundRect">
            <a:avLst>
              <a:gd name="adj" fmla="val 833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69848" y="57058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2148840" y="5687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enforcement · Fire · Military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80760" y="5669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resonance, highest trauma exposure — and an empty clinical layer. Not sold until a licensed clinician is contracted.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SECTOR TRACKS ARE CHEAP TO BUILD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base. A thin layer on top.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sector track is not a new product. It is ten protocols of sector-specific language and scenario on top of a base that is already written — roughly 30 to 55 per cent new writing.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83464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LAYER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3017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· sector language and scenarios · 30–55% new writing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88620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984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BASE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protocols · 308 resources · Recognise, Regulate, Release, Rise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healthcare and emergency: four of the six needs are already written. Shutdown Recovery, Shame Dissolution, Grief Integration and Burnout &amp; Overload all exist. Only shift-disrupted sleep and exposure aftermath are new.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89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why a sector track costs €6,400–8,500 rather than a full build — and why each one improves the margin on every one after it.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OFFER LADDER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at the door. Recurring at the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368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Lunch-and-learn, 45 min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2350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2368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entry. Costs an afternoon, needs no track record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898648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3118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workshop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0998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€1,800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3118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paid engagement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648456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3867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Half-day retreat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849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€1,800 / €3,500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867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offer, banded by size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4398264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69848" y="4617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access, all staff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4599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Banded by headcount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4617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tiered. The recurring line — never priced per seat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5148072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69848" y="5367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367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Conference, festival, event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5367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visibility, best lead source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 is banded by company size and tiered as a waterfall, never by usage — so the privacy promise survives the pricing model completely. Per-seat pricing would require counting individual usage, which is the one thing the product refuses to do.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away the best work. Sell the depth.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01 becomes free — ten complete protocols, the broadest-appeal work on the platform, given away in full. Every operator in this segment leads with free and monetises depth; SafeRise had no entry point at all. And it needs no payment rail, so the free tier launches while merchant approval is still in process.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342900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network reactivation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52958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470+ named contacts, many now senior. Exists today. Costs nothing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287000" y="3529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94106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023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Outbound to European tech HR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competence. Sequenced, MEDDICC-qualified, run as a real pipeline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0" y="4041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4453128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5354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remote workshop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45537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Monthly. Feeds the free tier and fills 1:1 slots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45537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965192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track as the SEO asset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06577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of genuine content, once the site is indexed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0" y="50657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547725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Speaking — HR and People events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5577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in front of 40 decision-makers beats 100 emails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287000" y="5577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98932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1560" y="6071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Collaborator audiences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608990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Dwight’s audience, Aleksandra’s market, Clara’s community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6089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309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paid acquisition in year one. At this budget it measures nothing useful and buys nothing durable.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60 DAYS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happens, and when.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12848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4323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1–7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project created. Paddle seller application in. Handover placed.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2999232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3218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8–24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20954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Posters. Cover removal pass. Legal pages drafted. Beta cohort recruited. Warm list named.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4005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25–38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9959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runs the protocols. Completion and return measured. First workshop filled. Payment tested end to end.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572000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791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39–45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7823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delivered. Testimonials captured. Gate A reviewed.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358384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9848" y="5577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46–60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556869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 paid. First 1:1 sessions. Corporate outreach opens with retention data in hand.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 tier can start on day one. It is the only part of this that no external approval can hold up.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axes, both already specified.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— six roadmap tracks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Series · Sex &amp; Intimacy · Fitness Mindset · Addiction Recovery · Nutrition &amp; Body · Money Mindset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840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track is a new market, not a new feature. The architecture is fixed; a new track is content into a system that already works.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— language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9260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and Spanish first. The Caribbean is natively multilingual and the founder is based in it. The method translates without re-derivation: four steps, six frameworks, one architecture.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Localisation is a translation cost against an asset already written — not a second product. That is materially different economics from building a new track, and it doubles addressable reach per unit of spend.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delivery removes the geographic ceiling entirely — the addressable market is wherever the free tier reaches, not wherever the founder is.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a competitor cannot simply copy.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refusal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streaks, scores or dependency mechanics. Adopting this means surrendering the retention model a competitor’s forecast depends 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0196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151,773 words across 30 protocols, written to one method. Reproducing it is 2,300 hours, not a sprint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Device-only records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a policy. Unavailable to anyone whose revenue includes employer analytics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decade of enterprise employee-experience selling plus three practitioner certifications. Rare in either direction, rarer together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an adjacent iOS product markets itself as “Regulate. Rewire. Rise.” Name proximity is a live trademark question and is carried on the risk register.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AND IP POSTURE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scrutiny, not retrofitted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459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Supabase, Frankfurt (eu-central-1). Controller is Kenor International B.V.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3044952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3264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V transfer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1821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 from a third country can itself constitute a transfer. Transfer Impact Assessment scoped; SCC mechanism under formal review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849624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Article 9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98678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entries may reveal health data. Basis identified as Art. 6(1)(a) with Art. 9(2)(a) explicit consent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654296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873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boundary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479145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diagnosis, no treatment claim, no outcome promise — which is what keeps the product outside the regulated device perimeter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58968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9848" y="5678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559612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method, taxonomy and brand system owned outright. No licensed content, no third-party curriculum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8521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legal sign-off. The analysis is complete; formal review is scoped and budgeted. That distinction is stated deliberately.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BUILDING 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seller. Certified practitioner.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5120640" cy="2697480"/>
          </a:xfrm>
          <a:prstGeom prst="roundRect">
            <a:avLst>
              <a:gd name="adj" fmla="val 169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Andre Robley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years enterprise SaaS — Jamf, HashiCorp, FeedbackFruits. €5M+ ARR delivered, 470+ new logos, a territory built to 360+ customers, Eagle Award for highest regional attainment. MEDDICC, multi-stakeholder, procurement and legal.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Jungian Practitioner · Certified Somatic Coach · Meditation Coach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22677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Kirsten Morris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5054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— owns clinical requirements, escalation criteria and protocol review, and sources third-party licensed practitioners when a track requires one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09360" y="2907792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01968" y="2980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Aleksandra Macura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32186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Nutrition, the body, behaviour change — track partner and corporate component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3621024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01968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Dwight Williams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and men’s audience — co-branded track and podcast, revenue-shared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09360" y="4334256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01968" y="4407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01968" y="4645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and cultural provision — local pilot, culturally specific delivery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Key-person risk is real and named: the corpus, method and commercial relationships sit with one person today. Documented handover architecture exists; a second contracted operator is a stated post-raise priority.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ALREADY IN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$202,860 of work, already delivered.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2,316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54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measured work — 57.9 full-time weeks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49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cost at contractor rates. Not a valuation. Founder time carries no invoice; this is the number that would have appeared on one.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60720" y="228600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content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5054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$83,750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0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940 hrs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315468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3383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&amp; engineering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33741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$73,910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33924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972 hrs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402336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&amp; commercial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42428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$45,200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0" y="4261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hrs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486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corpus, method, design system, member architecture and framework layer are built. What remains is consolidation, QA, legal completion and distribution — not conceptual invention.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arrives in month six.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library doubles in month four.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224028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2240280"/>
            <a:ext cx="3886200" cy="2926080"/>
          </a:xfrm>
          <a:prstGeom prst="roundRect">
            <a:avLst>
              <a:gd name="adj" fmla="val 156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2450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834640"/>
            <a:ext cx="3337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live by month four — eight in total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€29 tier opens alongside €19 once the library doubles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revenue begins month six, not year two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vertical rollouts ready at corporate launch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Signups are capped at 400 · 800 · 1,200 a month by year three — the range this deck already states. Without that ceiling the model compounds into a number no solo founder reaches.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against the conservative line. Everything above it is upside, not forecast.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· COMPOSITION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lines, three different shapes.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case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443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3108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€32k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Compounds, then flattens against the signup ceiling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6027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3767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— 1:1 and workshops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3785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Calendar-capped. Roughly flat whatever the funnel does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611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1560" y="44256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€16k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62356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€74k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€168k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44439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Lumpy. The only line that scales with capacity, not reach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395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B2B carries years two and three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650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flattens once signups hit their ceiling. Delivery is capped by the calendar. Organisations is the only line that grows with contracted facilitator capacity rather than with reach — which is why the raise is spent on capacity, and why the top band cannot be sold before a second facilitator exists.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capital actually buys.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capped scenarios assume a founder selling alone with no acquisition budget. Funded, the constraint moves from reach to headcount — and headcount is a decision rather than a ceiling.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7240" y="28803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4321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€1.24M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443216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436608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2,589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members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43216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€238K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cash need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436608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760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 is €238K. Breakeven arrives in year three, at roughly €156,000 of revenue per head across eight roles.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 · THE OPERATION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remote team, and the stack beneath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327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/ CEO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3327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Sales-led. Enterprise pipeline and method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corporate number from year two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generation, content, the free-track SEO asset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3327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engineer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6539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lead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criteria, protocol review, sourcing licensed practitioners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6539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Facilitators — contract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capacity. Scales with contracted revenue, never behind 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6539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6539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tracks — Sleep, Nutrition, Strength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6539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success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year three. Renewals are where B2B compounds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937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(Frankfurt) · Paddle merchant of record · AI tooling and agentic development — Claude Max and Claude Code, ChatGPT, Runway, API · CRM and sales tooling · transactional and marketing email · SSO and identity · analytics and support desk · security and compliance tooling · legal, DPA, insurance and accounting · paid acquisition and events.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035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 runs €6,000 in year one to €28,000 in year three — against €20,000-plus a year of contract engineering, design and production it replaces. It is the reason one engineer is enough.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engineer is enough.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574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 — thirty protocols, three hundred resources, the member architecture, the design system and every document in this deck — was built by one person using agentic tooling. That is not a cost saving. It is the operating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136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engineering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14553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€12,000–18,000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3154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running written pass briefs against the repository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6301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collateral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803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€4,000–6,000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813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Mockups, decks and buyer documents, reviewed rather than commissioned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42885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453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and motion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€2,000–4,000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4714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— the film, track banners, corporate collateral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9469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5111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and documentation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5120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€3,000–5,000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51297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content, briefs, legal drafting for review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66928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833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tooling, actual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58430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€6,000–28,000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852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one to year three. Claude Max and Claude Code, ChatGPT, Runway, 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 · THE LIMIT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compresses construction.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replace judgement.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and revises against a written specification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 large codebase in context across sessions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documents, mockups and briefs at speed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one engineer carry a platform build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0196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 not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is worth building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its own work against a live system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clinical, legal or commercial judgement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need for review — which is where the time goes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defect this project has shipped traces to an unverified assumption entering a specification, not to the tooling failing. The discipline that catches it — written briefs, a fix register, verification through the route a member actually takes — is the part that does not scale automatically.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2240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240280"/>
          </a:xfrm>
          <a:prstGeom prst="rect">
            <a:avLst/>
          </a:prstGeom>
          <a:solidFill>
            <a:srgbClr val="0F1420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949440" cy="2240280"/>
          </a:xfrm>
          <a:prstGeom prst="rect">
            <a:avLst/>
          </a:prstGeom>
          <a:solidFill>
            <a:srgbClr val="0F1420">
              <a:alpha val="91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first — because it is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fast feedback loop.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059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has no procurement cycle, no buying committee and no clinical gate blocking the sale. Someone arrives, opens a protocol, and either returns or does not. That loop is measured in days. The corporate one is measured in quarters.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54680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69848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library, open the market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33009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ship. Eight live. The €29 tier opens — €19 for Tracks 02–04, €29 for all eight. First measured conversion number.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4050792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69848" y="4233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44897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 holds, open B2B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4197096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reaches its churn test. Clinical gate closes. Two pilots delivered and written up. Sector bundles drafted from real protocol-open data, not assumption.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7240" y="4946904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69848" y="5129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" y="53858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raise conversation opens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434840" y="509320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traction, two findings reports, one named reference — built on $15,000 and no paid acquisition.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consumer build is a pricing prerequisite, not a content ambition — the €19/€29 split does not exist until eight tracks do. It de-risks the product, not the sale.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MONTH SIX CREDIBLE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Ratios first. Volume second.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848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 an investor is not testing whether we can buy users. They are testing whether the unit economics work when we do. 250 members at 4% churn is a better story than 800 at 12%.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7240" y="296265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99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→ paid conversion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3.5%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30998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3% the funnel is the problem, not the reach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51129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churn, paid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6484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6% annualises past 50% and every forecast collapses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05993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Second-protocol open rate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4206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41970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method transfers between states — the whole architecture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60857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745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members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180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7457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at which the two ratios above become meaningful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2486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3544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members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07792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54096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€6,500 MRR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38344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84648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≥20% on the €29 tier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68896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0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 reports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299448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45752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named reference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conversion comes in at 2%, that is information rather than failure — but it changes the raise. Path B assumes 4.2%.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€350,000 to breakeven.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cash trough is €238,000, reached during year two. €350,000 covers it with a 12 per cent contingency and funds the operation to breakeven in year three — so the next conversation happens from revenue, not from runway.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9535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— enterprise platform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29626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€96,000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2962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reporting. Twelve months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31927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 and acquisition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3401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€92,000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4015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 and the free-track SEO asset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758184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 — from month seven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3840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€48,000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38404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Part-year. Carries the corporate number into year two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197096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4270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governance and facilitation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42793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42793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Retainer, escalation criteria, first contracted facilitators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4636008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47091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— Sleep, Nutrition, Strength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4718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47183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substrate layer and opens the €29 tier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07492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1560" y="5148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Legal, compliance, entity, insurance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51572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€22,000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51572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DPA, SCCs, trademark clearance, security review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" y="551383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5586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Contingency — 12 per cent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5596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€38,000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5596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not yet visible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is not needed to build the product — $202,860 of it is already in. It is needed to buy distribution, delivery capacity and evidence.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B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€500,000 to €1.7M in year two.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business, hired ahead of proof instead of behind it. Enterprise platform in month six, three AEs by the start of year two, acquisition funded rather than organic.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743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€350,000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6676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€500,000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301752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0632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€123,000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€283,000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6499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410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2 revenue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€631,000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€1,686,000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71246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7581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 revenue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€1,244,000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€3,233,000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05993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4105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Members, end of year 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2,589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4407408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1560" y="4453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€238,000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€397,000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475488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8006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34924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7240" y="510235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51560" y="51480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platform live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34924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36676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" y="544982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1560" y="54955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headcount, year 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AEs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" y="579729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8430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signups / month, year 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924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36676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989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Blended acquisition cost is €62 per paying member against €228 of first-year revenue at €19, or €348 at €29. That payback is what makes path B a plan rather than a hope.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THE TRADE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hires behind proof.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hires ahead of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A · €350,000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carries the corporate pipeline through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AE, one marketing lead, one engineer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three at €1.24M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hire follows evidence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2% conversion rate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0196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· €500,000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shipped in month six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AEs and funded acquisition from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two at €1.69M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AE hired before the motion is proven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4.2% conversion rate to hold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is worth more if it works and loses more if it does not. The variable that decides it is conversion — and nobody knows it yet, because no one has paid.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035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produces that number in month six. It is available as a first tranche.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WHAT IT PROVES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milestones, in order.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3500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Willingness to pay, established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3500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conversion rate from real signups. Two pilot findings reports written. First paid workshops and 1:1 delivered. The clinical gate closed.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19272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9848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12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3822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corporate engine, running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live — organisations, seats, SSO, reporting. First annual access contracts signed. One named reference customer. Eight tracks live and the €29 tier open.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489704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46908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9926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469087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€1.2M run-rate. 2,500+ paying members. A corporate pipeline carried by an AE rather than the founder. The next conversation happens from revenue.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milestone that de-risks everything is not revenue. It is two written pilot findings reports and a named reference customer — because that is the first question every organisational buyer asks.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 REGISTER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yet true.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020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does not exist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0116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assumes 400–1,200 free signups monthly by year three. No mechanism currently produces one. The site is not indexed and there is no ad budget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241401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paying members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505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capacity is proven beyond argument. Willingness to pay is entirely untested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90779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08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 capacity is the B2B ceiling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9992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 hours a month exists. Annual access at the top band cannot be sold before a second facilitator is contracted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340156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organisation data model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4930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belong to individuals. Nothing represents an organisation, provisions seats, or produces the quarterly seats-in-use figure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895344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995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contracting incomplete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9867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in place; licensed third-party practitioners not yet contracted for the tracks that require them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7240" y="438912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external launch gates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4805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provisioning and Paddle seller approval. Both outside founder control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7240" y="488289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1560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Trademark proximity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9743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adjacent iOS product markets itself as “Regulate. Rewire. Rise.” To be cleared before wide launch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7240" y="537667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156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acute short-form format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54681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safety-critical sector needs something usable in a patrol car or between cases. The shortest resource in the library is far longer. A 90-second format is unbuilt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587044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5971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5961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versions and decisions now exist that reviving a retired choice is the live operational risk. Decision-priority rules are documented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1996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deck that hides its biggest risk is worth less than one that names it.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373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1463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POSITION, IN ONE LINE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finished product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an unconsolidated market,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for reach.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43484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$202,860 of work is in. Thirty protocols, three tracks, four revenue streams and two expansion axes are specified and built. The top five competitors hold 15% of the market between them. What is missing is distribution. €350,000 reaches breakeven; €500,000 reaches €1.7M in year two.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76072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 Robley  ·  thesaferiseprotocol.com  ·  Kenor International B.V.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SafeRise Protocol — Business Development Assessment</dc:title>
  <dc:subject>PptxGenJS Presentation</dc:subject>
  <dc:creator>SafeRise Protocol · Kenor International B.V.</dc:creator>
  <cp:lastModifiedBy>SafeRise Protocol · Kenor International B.V.</cp:lastModifiedBy>
  <cp:revision>1</cp:revision>
  <dcterms:created xsi:type="dcterms:W3CDTF">2026-09-14T16:48:59Z</dcterms:created>
  <dcterms:modified xsi:type="dcterms:W3CDTF">2026-09-14T16:48:59Z</dcterms:modified>
</cp:coreProperties>
</file>