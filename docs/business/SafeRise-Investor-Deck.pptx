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4E9A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62955</c:v>
                </c:pt>
                <c:pt idx="1">
                  <c:v>144002</c:v>
                </c:pt>
                <c:pt idx="2">
                  <c:v>248307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D8A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97177</c:v>
                </c:pt>
                <c:pt idx="1">
                  <c:v>256823</c:v>
                </c:pt>
                <c:pt idx="2">
                  <c:v>454998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E87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142862</c:v>
                </c:pt>
                <c:pt idx="1">
                  <c:v>417316</c:v>
                </c:pt>
                <c:pt idx="2">
                  <c:v>748621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69F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E355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9F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69F9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8A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123472</c:v>
                </c:pt>
                <c:pt idx="1">
                  <c:v>630751</c:v>
                </c:pt>
                <c:pt idx="2">
                  <c:v>1244485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4E9A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281874</c:v>
                </c:pt>
                <c:pt idx="1">
                  <c:v>654938</c:v>
                </c:pt>
                <c:pt idx="2">
                  <c:v>974424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69F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E355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9F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69F9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deck. Supersedes the earlier business summary and merges the GTM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between market failure and the position. The cost of an unregulated state in ordinary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55648" y="-18288"/>
            <a:ext cx="15727680" cy="68945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F1420">
              <a:alpha val="8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0F1420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8AA4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2880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spc="-60" kern="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as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spc="-60" kern="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infrastructure.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protocol system for emotional regulation — helping people recover enough internal resource and command of attention to perceive more clearly, judge more soundly, and respond more deliberately.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5349240"/>
            <a:ext cx="2011680" cy="0"/>
          </a:xfrm>
          <a:prstGeom prst="line">
            <a:avLst/>
          </a:prstGeom>
          <a:noFill/>
          <a:ln w="12700">
            <a:solidFill>
              <a:srgbClr val="D8AA4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assessment  ·  Andre Robley  ·  Kenor International B.V.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Large, compounding, and unusually unconsolidated.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$9.45B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apps, 2026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to 2031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the top five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2240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US corporate wellness app programmes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14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health apps market was valued at $8.40B in 2025 and is estimated to reach $18.81B by 2031. The wider wellness apps market runs $14.81B in 2026 toward $51.12B by 2035.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937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five — Calm, Headspace, Talkspace, Teladoc, Woebot — held roughly 15% between them in 2025, the leader under 6%. This is not a market with an incumbent to displace. It is a market with room underneath.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MARKET FAILS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failures, both structural.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10652760" cy="1600200"/>
          </a:xfrm>
          <a:prstGeom prst="roundRect">
            <a:avLst>
              <a:gd name="adj" fmla="val 285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6243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496312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report data-security concerns limit their engagement. Every major platform stores emotional data on its own servers.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are device-only. Never synced, never opened to leadership.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023360"/>
            <a:ext cx="10652760" cy="1600200"/>
          </a:xfrm>
          <a:prstGeom prst="roundRect">
            <a:avLst>
              <a:gd name="adj" fmla="val 285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4074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4279392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lack of personalisation as the limit. Generic calm content cannot meet a specific state at the moment it arrives.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4480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protocols, each routed to a named state — not a content library.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806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is a feature gap. Both follow from business models built on data capture and undifferentiated content — which is why an incumbent cannot copy the answer without giving up the model underneath.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37360" y="0"/>
            <a:ext cx="156819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42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F1420">
              <a:alpha val="92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3258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373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stay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place.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03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i="1" dirty="0">
                <a:solidFill>
                  <a:srgbClr val="DDD5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lost to a mind that will not close.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i="1" dirty="0">
                <a:solidFill>
                  <a:srgbClr val="DDD5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Patience spent before evening begins.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i="1" dirty="0">
                <a:solidFill>
                  <a:srgbClr val="DDD5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delayed because clarity is out of reach.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5257800"/>
            <a:ext cx="2011680" cy="0"/>
          </a:xfrm>
          <a:prstGeom prst="line">
            <a:avLst/>
          </a:prstGeom>
          <a:noFill/>
          <a:ln w="12700">
            <a:solidFill>
              <a:srgbClr val="D8AA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passes. Its effects do not — they land in the ordinary hours, and on the people nearby.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systems teach calm.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one teaches understanding.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50"/>
              </a:lnSpc>
              <a:buNone/>
            </a:pPr>
            <a:r>
              <a:rPr lang="en-US" sz="17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is not the destination. It is the condition that makes clear perception possible.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91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of regulation is not relief. It is the recovered capacity to choose what happens next — which is why the product is defined by what it refuses as much as by what it offers.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434340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generic wellness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434340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5152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course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01000" y="434340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57032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gamified self-improvement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507492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3272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therapy replacement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507492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luxury wellness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01000" y="5074920"/>
            <a:ext cx="342900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57032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outcome promise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AND METHOD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sequence. Every protocol.</a:t>
            </a:r>
            <a:endParaRPr lang="en-US" sz="3200" dirty="0"/>
          </a:p>
        </p:txBody>
      </p:sp>
      <p:pic>
        <p:nvPicPr>
          <p:cNvPr id="4" name="Image 0" descr="method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65960"/>
            <a:ext cx="12188952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965960"/>
            <a:ext cx="12188952" cy="2194560"/>
          </a:xfrm>
          <a:prstGeom prst="rect">
            <a:avLst/>
          </a:prstGeom>
          <a:solidFill>
            <a:srgbClr val="0F1420">
              <a:alpha val="4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965960"/>
            <a:ext cx="12188952" cy="457200"/>
          </a:xfrm>
          <a:prstGeom prst="rect">
            <a:avLst/>
          </a:prstGeom>
          <a:solidFill>
            <a:srgbClr val="0F1420">
              <a:alpha val="8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solidFill>
            <a:srgbClr val="0F1420">
              <a:alpha val="8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 →  Awareness  →  Authorship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Recognise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1206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experience into view without diagnosis or fixed identity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51206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enough steadiness to regain command of attention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51206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struggle, self-blame and the demand to resolve everything now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4736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51206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deliberate participation, and a caring action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897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four steps run in every protocol, on every track, and in every language it is translated into. That consistency is the product.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— NEW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layers. Most programmes work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WHAT WE TRAIN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3649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Noticing the state, regulating it, recovering choice.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below every skill you have trained and above every decision made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224028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8304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IT DEPENDS 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Substrate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33649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nutrition, training load, chronic stress.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that capacity is physically available at 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4152" y="224028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WHERE IT LANDS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3649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Conversations, decisions, performance, the shift.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layer most wellbeing and L&amp;D spend touches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75"/>
              </a:lnSpc>
              <a:buNone/>
            </a:pPr>
            <a:r>
              <a:rPr lang="en-US" sz="14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arrow runs both ways. Degraded capacity produces the decisions that wreck sleep; poor sleep degrades capacity further. SafeRise is where a person can interrupt that loop rather than be carried by it.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Sleep, Nutrition and Strength are not adjacent markets. Without substrate there is no capacity, and the platform would be teaching people to regulate on an empty tank.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SURVIVES CLINICAL SCRUTINY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frameworks, tiered by evidence.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— LEADS EVERY CLINICAL AND INVESTOR CONVERSATION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2395728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96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Porges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505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Polyvagal Theory — autonomic state and safety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0083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HeartMath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017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coherence — heart-rhythm and regulation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419856"/>
            <a:ext cx="1065276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529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Distanced self-talk — perspective and rumination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3308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PRACTICE AND INTERPRETIVE — LABELLED AS SUCH, NEVER PRESENTED AS MECHANISM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4443984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535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5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4544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Compassionate Inquiry — clinical practice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4937760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5029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5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50383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and individuation — interpretive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5431536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5522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5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5532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Non-resistance — interpretive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87044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tiering is the defence. A reviewer who challenges Jung finds it already labelled interpretive — with the peer-reviewed layer standing independently underneath.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DISCIPLINE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things this product will never say.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234086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25696" y="219456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81728" y="234086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74152" y="219456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30184" y="234086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personal experience is universal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32095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promise of curing anxiety or trauma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25696" y="306324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32095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mechanics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4152" y="306324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0184" y="32095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40782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 to complete a transformation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25696" y="393192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81728" y="40782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unsupported physiological claims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74152" y="393192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0184" y="40782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trauma narratives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80060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3272" y="49469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to find a root cause first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5696" y="4800600"/>
            <a:ext cx="3429000" cy="749808"/>
          </a:xfrm>
          <a:prstGeom prst="roundRect">
            <a:avLst>
              <a:gd name="adj" fmla="val 609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81728" y="49469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framing that outside support is unnecessary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852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Lived experience, metaphor, plausible mechanism and established evidence are held apart at every layer — and the separation is audited, not assumed.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· PUBLIC LAYER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before persuasion.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has one job: build recognition. Not explain the method, not present the science, not sell a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10652760" cy="640080"/>
          </a:xfrm>
          <a:prstGeom prst="roundRect">
            <a:avLst>
              <a:gd name="adj" fmla="val 714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Documentary hero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3172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sentence from a real experience, not a value proposition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721608"/>
            <a:ext cx="10652760" cy="640080"/>
          </a:xfrm>
          <a:prstGeom prst="roundRect">
            <a:avLst>
              <a:gd name="adj" fmla="val 714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3904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bridge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39227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pattern before it names the product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471416"/>
            <a:ext cx="10652760" cy="640080"/>
          </a:xfrm>
          <a:prstGeom prst="roundRect">
            <a:avLst>
              <a:gd name="adj" fmla="val 714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9848" y="4654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contextual doors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46725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my own · With someone · At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221224"/>
            <a:ext cx="10652760" cy="640080"/>
          </a:xfrm>
          <a:prstGeom prst="roundRect">
            <a:avLst>
              <a:gd name="adj" fmla="val 714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54041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only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54223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tracks appear as direction, never as product cards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arriving in distress reaches the protocol they came for without passing through a sales moment.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· MEMBER LAYER AND DEPTH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onboarding cliff.</a:t>
            </a:r>
            <a:endParaRPr lang="en-US" sz="3000" dirty="0"/>
          </a:p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resources behind every protocol.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5120640" cy="2651760"/>
          </a:xfrm>
          <a:prstGeom prst="roundRect">
            <a:avLst>
              <a:gd name="adj" fmla="val 172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member layer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3127248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in on the first screen — settle, continue, or answer two questions and be routed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intake form, no labels, no assessment to finish before anything is useful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 sits with account settings, away from protocol navigation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they build stays on their own device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514600"/>
            <a:ext cx="5120640" cy="2651760"/>
          </a:xfrm>
          <a:prstGeom prst="roundRect">
            <a:avLst>
              <a:gd name="adj" fmla="val 172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depth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3127248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session · somatic release · explanation · perspectives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card · disclosure language · private journal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who finishes one protocol finds eleven more things behind it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◇"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is the retention mechanism, not streaks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151,773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assets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· BRAND SYSTEM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visual language across every protocol.</a:t>
            </a:r>
            <a:endParaRPr lang="en-US" sz="3400" dirty="0"/>
          </a:p>
        </p:txBody>
      </p:sp>
      <p:pic>
        <p:nvPicPr>
          <p:cNvPr id="4" name="Image 0" descr="p_07403d6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1636776" cy="2212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2240280"/>
            <a:ext cx="1636776" cy="2212848"/>
          </a:xfrm>
          <a:prstGeom prst="rect">
            <a:avLst/>
          </a:prstGeom>
          <a:solidFill>
            <a:srgbClr val="0F1420">
              <a:alpha val="12000"/>
            </a:srgbClr>
          </a:solidFill>
          <a:ln w="9525">
            <a:solidFill>
              <a:srgbClr val="2E3550"/>
            </a:solidFill>
            <a:prstDash val="solid"/>
          </a:ln>
        </p:spPr>
      </p:sp>
      <p:pic>
        <p:nvPicPr>
          <p:cNvPr id="6" name="Image 1" descr="p_07c063e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2240280"/>
            <a:ext cx="1636776" cy="22128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42032" y="2240280"/>
            <a:ext cx="1636776" cy="2212848"/>
          </a:xfrm>
          <a:prstGeom prst="rect">
            <a:avLst/>
          </a:prstGeom>
          <a:solidFill>
            <a:srgbClr val="0F1420">
              <a:alpha val="12000"/>
            </a:srgbClr>
          </a:solidFill>
          <a:ln w="9525">
            <a:solidFill>
              <a:srgbClr val="2E3550"/>
            </a:solidFill>
            <a:prstDash val="solid"/>
          </a:ln>
        </p:spPr>
      </p:sp>
      <p:pic>
        <p:nvPicPr>
          <p:cNvPr id="8" name="Image 2" descr="p_53ce5c3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240280"/>
            <a:ext cx="1636776" cy="22128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306824" y="2240280"/>
            <a:ext cx="1636776" cy="2212848"/>
          </a:xfrm>
          <a:prstGeom prst="rect">
            <a:avLst/>
          </a:prstGeom>
          <a:solidFill>
            <a:srgbClr val="0F1420">
              <a:alpha val="12000"/>
            </a:srgbClr>
          </a:solidFill>
          <a:ln w="9525">
            <a:solidFill>
              <a:srgbClr val="2E3550"/>
            </a:solidFill>
            <a:prstDash val="solid"/>
          </a:ln>
        </p:spPr>
      </p:sp>
      <p:pic>
        <p:nvPicPr>
          <p:cNvPr id="10" name="Image 3" descr="p_8d3fd5e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2240280"/>
            <a:ext cx="1636776" cy="2212848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071616" y="2240280"/>
            <a:ext cx="1636776" cy="2212848"/>
          </a:xfrm>
          <a:prstGeom prst="rect">
            <a:avLst/>
          </a:prstGeom>
          <a:solidFill>
            <a:srgbClr val="0F1420">
              <a:alpha val="12000"/>
            </a:srgbClr>
          </a:solidFill>
          <a:ln w="9525">
            <a:solidFill>
              <a:srgbClr val="2E3550"/>
            </a:solidFill>
            <a:prstDash val="solid"/>
          </a:ln>
        </p:spPr>
      </p:sp>
      <p:pic>
        <p:nvPicPr>
          <p:cNvPr id="12" name="Image 4" descr="p_97f4075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2240280"/>
            <a:ext cx="1636776" cy="2212848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836408" y="2240280"/>
            <a:ext cx="1636776" cy="2212848"/>
          </a:xfrm>
          <a:prstGeom prst="rect">
            <a:avLst/>
          </a:prstGeom>
          <a:solidFill>
            <a:srgbClr val="0F1420">
              <a:alpha val="12000"/>
            </a:srgbClr>
          </a:solidFill>
          <a:ln w="9525">
            <a:solidFill>
              <a:srgbClr val="2E3550"/>
            </a:solidFill>
            <a:prstDash val="solid"/>
          </a:ln>
        </p:spPr>
      </p:sp>
      <p:pic>
        <p:nvPicPr>
          <p:cNvPr id="14" name="Image 5" descr="p_fdc2de3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2240280"/>
            <a:ext cx="1636776" cy="221284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601200" y="2240280"/>
            <a:ext cx="1636776" cy="2212848"/>
          </a:xfrm>
          <a:prstGeom prst="rect">
            <a:avLst/>
          </a:prstGeom>
          <a:solidFill>
            <a:srgbClr val="0F1420">
              <a:alpha val="12000"/>
            </a:srgbClr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777240" y="4800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word, title, promise. A fixed four-level card hierarchy, a controlled palette per track, and image rules covering encoding, crop, representation and emotional accuracy — nothing enters the repository unchecked.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hundred images, one rulebook. A member recognises a protocol before they read its name, and a buyer sees a system rather than a collection.</a:t>
            </a:r>
            <a:endParaRPr lang="en-US" sz="1350" dirty="0"/>
          </a:p>
        </p:txBody>
      </p:sp>
      <p:sp>
        <p:nvSpPr>
          <p:cNvPr id="18" name="Text 10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events, not personas.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 not buy regulation because they find nervous systems interesting. They buy at a moment — and the moment selects the track.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670048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Rupture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28072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breaks, or nearly does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Healing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3218688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3558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anger or shutdown becomes unmanageable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Transformation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767328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9044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Promotion, visibility, a room that judges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3886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Performance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315968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Depletion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4453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Burnout, decision fatigue, arrival that feels like nothing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· Elevation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864608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50017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parent, separation, relocation, career change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4983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tracks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5413248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5532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55504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Intimacy, discipline, the body, money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roadmap tracks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897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event recurs across a life. Someone who arrives at rupture returns at exposure — which is what makes cumulative access the correct commercial architecture.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streams. Four buyers. One asset.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84832"/>
            <a:ext cx="10652760" cy="822960"/>
          </a:xfrm>
          <a:prstGeom prst="roundRect">
            <a:avLst>
              <a:gd name="adj" fmla="val 555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203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individual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01 free · €19 Tracks 02–04 · €29 all eight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5420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at ten months — €190 and €290. Adding a track inside a tier never costs more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72600" y="2359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980944"/>
            <a:ext cx="10652760" cy="822960"/>
          </a:xfrm>
          <a:prstGeom prst="roundRect">
            <a:avLst>
              <a:gd name="adj" fmla="val 555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1:1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419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high-intent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18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€129 · €349 for three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438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rate €79 · €199 while the market is tested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Calendar-capped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877056"/>
            <a:ext cx="10652760" cy="822960"/>
          </a:xfrm>
          <a:prstGeom prst="roundRect">
            <a:avLst>
              <a:gd name="adj" fmla="val 555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995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315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community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014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€29 single · €39 per couple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4334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Remote. Global reach, no venue cost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4151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Calendar-capped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773168"/>
            <a:ext cx="10652760" cy="822960"/>
          </a:xfrm>
          <a:prstGeom prst="roundRect">
            <a:avLst>
              <a:gd name="adj" fmla="val 555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212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910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 · retreat · annual access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5230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size of organisation, waterfall tiered. Never by usage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5047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Lumpy, high value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content asset serves all four. A protocol written once is sold to an individual, delivered in a session, taught in a workshop and licensed to an employer — with no additional production cost.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€29 tier opens as the library doubles in month four, at €290 a year.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SEAT INCLUDES — NEW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library. Plus what is yours.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10652760" cy="1783080"/>
          </a:xfrm>
          <a:prstGeom prst="roundRect">
            <a:avLst>
              <a:gd name="adj" fmla="val 2564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77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 · EVERY MEMBER, EVERY ORGANISATIONAL SEAT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Transformation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Performance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Healing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Presence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29809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37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&amp; Recovery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337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Embodied Nutrition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337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 &amp; Return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3337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Series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357530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Curated by sector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and emergency · Finance, legal and professional services · Technology and engineering · Manufacturing and logistics · Sales and client-facing · Leadership and people managers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sector gets a different route through the same library, and the facilitated sessions follow that route. Nobody has to predict who needs what — a person whose strain changes does not need a different licence.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CORPORATE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seller already knows this buyer.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SafeRise’s corporate offer is an employee-experience product — the exact category sold for a decade. Jamf: employee technology enablement. HashiCorp: IT operations. Both into HR, IT and Operations committees, through procurement and legal, at five and six figures.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611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new market. A different product into a buyer and a buying process already understood.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470+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 acquired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320040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360+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territory built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411480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9560" y="4297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€5M+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delivered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forbidden from promising results.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optimise, efficiency, output, performance target — the words an HR buyer uses to justify a budget line — are prohibited. We do not break the rule. We sell four things that are true instead: a defined facilitated day · privacy by architecture · verifiable qualification · and the refusal itself.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warm network already exists. Reactivating it is the highest-yield channel available, and it costs nothing.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buyers. Three budgets.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corporate offer is not one product sold to one department. It is three, on three separate budget lines — and the second and third do not depend on the first being bought.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10652760" cy="932688"/>
          </a:xfrm>
          <a:prstGeom prst="roundRect">
            <a:avLst>
              <a:gd name="adj" fmla="val 490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Preventative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355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provision for the whole population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Chief People Officer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337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budget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813048"/>
            <a:ext cx="10652760" cy="932688"/>
          </a:xfrm>
          <a:prstGeom prst="roundRect">
            <a:avLst>
              <a:gd name="adj" fmla="val 490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3995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performance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43799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under pressure, department-specific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032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· VP Engineering · Head of Trading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or departmental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4361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4837176"/>
            <a:ext cx="10652760" cy="932688"/>
          </a:xfrm>
          <a:prstGeom prst="roundRect">
            <a:avLst>
              <a:gd name="adj" fmla="val 490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9848" y="5020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Acute recovery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" y="5404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after an incident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5056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· Chief Legal · Chief Risk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3858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or risk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5385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6035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middle tier bypasses HR entirely. A VP of Engineering with an on-call problem has their own budget and does not need a wellbeing mandate to spend it.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651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2651760"/>
          </a:xfrm>
          <a:prstGeom prst="rect">
            <a:avLst/>
          </a:prstGeom>
          <a:solidFill>
            <a:srgbClr val="0F1420">
              <a:alpha val="74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920240"/>
            <a:ext cx="12188952" cy="731520"/>
          </a:xfrm>
          <a:prstGeom prst="rect">
            <a:avLst/>
          </a:prstGeom>
          <a:solidFill>
            <a:srgbClr val="0F1420">
              <a:alpha val="94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MAP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state is the job hazard.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77240" y="2852928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9848" y="3035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990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services · Technology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Hyper-arousal, chronic vigilance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 · High-Stakes Presence · Burnout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7240" y="3529584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9848" y="3712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36667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· Legal · Mental health · Social care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36758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Shutdown, compassion fatigue, exposure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Recovery · Grief Integration · Perfectionism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4206240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69848" y="4389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14884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Aviation · Manufacturing · Logistics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080760" y="435254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overload, sustained arousal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915400" y="43525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 · Overwhelm Threshold · Conflict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77240" y="4882896"/>
            <a:ext cx="10652760" cy="603504"/>
          </a:xfrm>
          <a:prstGeom prst="roundRect">
            <a:avLst>
              <a:gd name="adj" fmla="val 757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69848" y="5065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148840" y="50200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5029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Budget-constrained, district licence reaches hundreds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915400" y="5029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Navigation · Burnout · Overwhelm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77240" y="5541264"/>
            <a:ext cx="10652760" cy="548640"/>
          </a:xfrm>
          <a:prstGeom prst="roundRect">
            <a:avLst>
              <a:gd name="adj" fmla="val 8333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9848" y="5705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148840" y="5687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enforcement · Fire · Military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080760" y="5669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resonance, highest trauma exposure — and an empty clinical layer. Not sold until a licensed clinician is contracted.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SECTOR TRACKS ARE CHEAP TO BUILD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base. A thin layer on top.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sector track is not a new product. It is ten protocols of sector-specific language and scenario on top of a base that is already written — roughly 30 to 55 per cent new writing.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LAYER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protocols · sector language and scenarios · 30–55% new writing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8862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BASE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protocols · 308 resources · Recognise, Regulate, Release, Rise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healthcare and emergency: four of the six needs are already written. Shutdown Recovery, Shame Dissolution, Grief Integration and Burnout &amp; Overload all exist. Only shift-disrupted sleep and exposure aftermath are new.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9893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why a sector track costs €6,400–8,500 rather than a full build — and why each one improves the margin on every one after it.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OFFER LADDER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from the first room.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9848" y="23682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368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workshop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50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€1,800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368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entry, and the first paid engagement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898648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118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118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Half-day retreat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099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€2,400 · €3,500 · scoped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31181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50 · 51–120 · above 120 scoped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648456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9848" y="3867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access, all staff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3849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size of organisation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3867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tiered. The recurring line — never priced per seat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4398264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69848" y="4617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Conference, festival, event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4617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visibility, best lead source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access is priced on total headcount and tiered as a waterfall, never by usage — so the privacy promise survives the pricing model completely. Per-seat pricing would require counting individual usage, which is the one thing the product refuses to do.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away the best work. Sell the depth.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488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01 becomes free — ten complete protocols, the broadest-appeal work on the platform, given away in full. Every operator in this segment leads with free and monetises depth; SafeRise had no entry point at all. And it needs no payment rail, so the free tier launches while merchant approval is still in process.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3429000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network reactivation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35295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470+ named contacts, many now senior. Exists today. Costs nothing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287000" y="3529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3941064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Outbound to European tech HR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4041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competence. Sequenced, MEDDICC-qualified, run as a real pipeline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445312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535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remote workshop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45537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Monthly. Feeds the free tier and fills 1:1 slots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287000" y="4553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4965192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047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track as the SEO asset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0657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protocols of genuine content, once the site is indexed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287000" y="50657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5477256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5559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— HR and People events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5577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in front of 40 decision-makers beats 100 emails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287000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5989320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6071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 audiences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60899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Dwight’s audience and Aleksandra’s market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287000" y="6089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6309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paid acquisition in year one. At this budget it measures nothing useful and buys nothing durable.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SIXTY DAYS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happens, and when.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12848"/>
            <a:ext cx="10652760" cy="694944"/>
          </a:xfrm>
          <a:prstGeom prst="roundRect">
            <a:avLst>
              <a:gd name="adj" fmla="val 6579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432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30 September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423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opens. Indexing switched on. All 31 meditations mastered and live. Payment rail live, or the free tier opens without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10652760" cy="694944"/>
          </a:xfrm>
          <a:prstGeom prst="roundRect">
            <a:avLst>
              <a:gd name="adj" fmla="val 6579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1–18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1363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 runs the protocols. Completion and return measured. First workshop filled.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639312"/>
            <a:ext cx="10652760" cy="694944"/>
          </a:xfrm>
          <a:prstGeom prst="roundRect">
            <a:avLst>
              <a:gd name="adj" fmla="val 6579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3858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19–32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84962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delivered. Testimonials captured. Payment tested end to end. First conversion number in hand.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352544"/>
            <a:ext cx="10652760" cy="694944"/>
          </a:xfrm>
          <a:prstGeom prst="roundRect">
            <a:avLst>
              <a:gd name="adj" fmla="val 6579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33–45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56285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 reviewed against the conversion and churn floors. First 1:1 sessions delivered.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5065776"/>
            <a:ext cx="10652760" cy="694944"/>
          </a:xfrm>
          <a:prstGeom prst="roundRect">
            <a:avLst>
              <a:gd name="adj" fmla="val 6579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5285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46–60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52760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outreach opens with retention data in hand. Warm list worked. First organisation workshop scoped.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78815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 tier needs no external approval — the only part of this that nothing outside the business can hold up.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axes, both already specified.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120640" cy="2377440"/>
          </a:xfrm>
          <a:prstGeom prst="roundRect">
            <a:avLst>
              <a:gd name="adj" fmla="val 192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— six roadmap tracks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Series · Sex &amp; Intimacy · Fitness Mindset · Addiction Recovery · Nutrition &amp; Body · Money Mindset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track is a new market, not a new feature. The architecture is fixed; a new track is content into a system that already works.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120640" cy="2377440"/>
          </a:xfrm>
          <a:prstGeom prst="roundRect">
            <a:avLst>
              <a:gd name="adj" fmla="val 192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— language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29260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and Spanish first. The Caribbean is natively multilingual and the founder is based in it. The method translates without re-derivation: four steps, six frameworks, one architecture.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Localisation is a translation cost against an asset already written — not a second product. That is materially different economics from building a new track, and it doubles addressable reach per unit of spend.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delivery removes the geographic ceiling entirely — the addressable market is wherever the free tier reaches, not wherever the founder is.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a competitor cannot simply copy.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120640" cy="1600200"/>
          </a:xfrm>
          <a:prstGeom prst="roundRect">
            <a:avLst>
              <a:gd name="adj" fmla="val 285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refusal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9077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streaks, scores or dependency mechanics. Adopting this means surrendering the retention model a competitor’s forecast depends 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120640" cy="1600200"/>
          </a:xfrm>
          <a:prstGeom prst="roundRect">
            <a:avLst>
              <a:gd name="adj" fmla="val 285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9077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151,773 words across 30 protocols, written to one method. Reproducing it is 2,300 hours, not a sprint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069080"/>
            <a:ext cx="5120640" cy="1600200"/>
          </a:xfrm>
          <a:prstGeom prst="roundRect">
            <a:avLst>
              <a:gd name="adj" fmla="val 285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4270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Device-only records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46908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not a policy. Unavailable to anyone whose revenue includes employer analytics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069080"/>
            <a:ext cx="5120640" cy="1600200"/>
          </a:xfrm>
          <a:prstGeom prst="roundRect">
            <a:avLst>
              <a:gd name="adj" fmla="val 285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4270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Founder-market fit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46908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enterprise employee-experience selling plus three practitioner certifications. Rare in either direction, rarer together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an adjacent iOS product markets itself as “Regulate. Rewire. Rise.” Name proximity is a live trademark question and is carried on the risk register.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IP POSTURE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scrutiny, not retrofitted to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10652760" cy="713232"/>
          </a:xfrm>
          <a:prstGeom prst="roundRect">
            <a:avLst>
              <a:gd name="adj" fmla="val 641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459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Supabase, Frankfurt (eu-central-1). Controller is Kenor International B.V.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3044952"/>
            <a:ext cx="10652760" cy="713232"/>
          </a:xfrm>
          <a:prstGeom prst="roundRect">
            <a:avLst>
              <a:gd name="adj" fmla="val 641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V transfer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31821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from a third country can itself constitute a transfer. Transfer Impact Assessment scoped; SCC mechanism under formal review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849624"/>
            <a:ext cx="10652760" cy="713232"/>
          </a:xfrm>
          <a:prstGeom prst="roundRect">
            <a:avLst>
              <a:gd name="adj" fmla="val 641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Article 9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986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entries may reveal health data. Basis identified as Art. 6(1)(a) with Art. 9(2)(a) explicit consent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654296"/>
            <a:ext cx="10652760" cy="713232"/>
          </a:xfrm>
          <a:prstGeom prst="roundRect">
            <a:avLst>
              <a:gd name="adj" fmla="val 641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boundary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7914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diagnosis, no treatment claim, no outcome promise — which is what keeps the product outside the regulated device perimeter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5458968"/>
            <a:ext cx="10652760" cy="713232"/>
          </a:xfrm>
          <a:prstGeom prst="roundRect">
            <a:avLst>
              <a:gd name="adj" fmla="val 641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5678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position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55961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Corpus, method, taxonomy and brand system owned outright. No licensed content, no third-party curriculum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852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legal sign-off. The analysis is complete; formal review is scoped and budgeted. That distinction is stated deliberately.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BUILDING 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seller. Certified practitioner.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5120640" cy="2697480"/>
          </a:xfrm>
          <a:prstGeom prst="roundRect">
            <a:avLst>
              <a:gd name="adj" fmla="val 169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 Robley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85292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years enterprise SaaS — Jamf, HashiCorp, FeedbackFruits. €5M+ ARR delivered, 470+ new logos, a territory built to 360+ customers, Eagle Award for highest regional attainment. MEDDICC, multi-stakeholder, procurement and legal.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Jungian Practitioner · Certified Somatic Coach · Meditation Coach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120640" cy="868680"/>
          </a:xfrm>
          <a:prstGeom prst="roundRect">
            <a:avLst>
              <a:gd name="adj" fmla="val 694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2267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Kirsten Morris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25054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lead — owns clinical requirements, escalation criteria and protocol review, and sources third-party licensed practitioners when a track requires 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0" y="3246120"/>
            <a:ext cx="5120640" cy="658368"/>
          </a:xfrm>
          <a:prstGeom prst="roundRect">
            <a:avLst>
              <a:gd name="adj" fmla="val 694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1968" y="3319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Aleksandra Macura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35570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Nutrition, the body, behaviour change — track partner and corporate component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4297680"/>
            <a:ext cx="5120640" cy="658368"/>
          </a:xfrm>
          <a:prstGeom prst="roundRect">
            <a:avLst>
              <a:gd name="adj" fmla="val 694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1968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Dwight Williams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4608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and men’s audience — co-branded track and podcast, revenue-shared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Key-person risk is real and named: the corpus, method and commercial relationships sit with one person today. Documented handover architecture exists; a second contracted operator is a stated post-raise priority.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IN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$232,005 of work, already delivered.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2,644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measured work — 66.1 full-time weeks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490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cost at contractor rates. Not a valuation. Founder time carries no invoice; this is the number that would have appeared on one. $15,000 of cash has gone in alongside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2286000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content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$87,065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0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977 hrs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3154680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&amp; engineering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3374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$86,200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3392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1,134 hrs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4023360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commercial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4242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$58,740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533 hrs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corpus, method, design system, member architecture and framework layer are built. What remains is consolidation, QA, legal completion and distribution — not conceptual invention. The bridge ahead asks for $15,000, which doubles the cash in and buys a measured conversion number.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arrives in month six.</a:t>
            </a:r>
            <a:endParaRPr lang="en-US" sz="3000" dirty="0"/>
          </a:p>
          <a:p>
            <a:pPr indent="0" marL="0">
              <a:lnSpc>
                <a:spcPts val="3150"/>
              </a:lnSpc>
              <a:buNone/>
            </a:pPr>
            <a:r>
              <a:rPr lang="en-US" sz="3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doubles in month four.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2240280"/>
          <a:ext cx="6400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2240280"/>
            <a:ext cx="3886200" cy="2926080"/>
          </a:xfrm>
          <a:prstGeom prst="roundRect">
            <a:avLst>
              <a:gd name="adj" fmla="val 156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83464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62"/>
              </a:lnSpc>
              <a:spcAft>
                <a:spcPts val="700"/>
              </a:spcAft>
              <a:buSzPct val="100000"/>
              <a:buChar char="◇"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tracks live by month four — eight in total</a:t>
            </a:r>
            <a:endParaRPr lang="en-US" sz="1100" dirty="0"/>
          </a:p>
          <a:p>
            <a:pPr marL="342900" indent="-342900">
              <a:lnSpc>
                <a:spcPts val="1562"/>
              </a:lnSpc>
              <a:spcAft>
                <a:spcPts val="700"/>
              </a:spcAft>
              <a:buSzPct val="100000"/>
              <a:buChar char="◇"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€29 tier opens alongside €19 once the library doubles</a:t>
            </a:r>
            <a:endParaRPr lang="en-US" sz="1100" dirty="0"/>
          </a:p>
          <a:p>
            <a:pPr marL="342900" indent="-342900">
              <a:lnSpc>
                <a:spcPts val="1562"/>
              </a:lnSpc>
              <a:spcAft>
                <a:spcPts val="700"/>
              </a:spcAft>
              <a:buSzPct val="100000"/>
              <a:buChar char="◇"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 begins month six, not year two</a:t>
            </a:r>
            <a:endParaRPr lang="en-US" sz="1100" dirty="0"/>
          </a:p>
          <a:p>
            <a:pPr marL="342900" indent="-342900">
              <a:lnSpc>
                <a:spcPts val="1562"/>
              </a:lnSpc>
              <a:spcAft>
                <a:spcPts val="700"/>
              </a:spcAft>
              <a:buSzPct val="100000"/>
              <a:buChar char="◇"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vertical rollouts ready at corporate launch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Signups are capped at 400 · 800 · 1,200 a month by year three — the range this deck already states. Without that ceiling the model compounds into a number no solo founder reaches.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against the conservative line. Everything above it is upside, not forecast.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· COMPOSITION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lines, three different shapes.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51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551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2551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551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5511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944368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118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3118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€32k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118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Compounds, then flattens against the signup ceiling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602736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— 1:1 and workshops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€34k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€38k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Calendar-capped. Roughly flat whatever the funnel does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261104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€16k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€74k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4434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€168k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4443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Lumpy. The only line that scales with capacity, not reach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239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B2B carries years two and three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65099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flattens once signups hit their ceiling. Delivery is capped by the calendar. Organisations is the only line that grows with contracted facilitator capacity rather than with reach — which is why the raise is spent on capacity, and why the top band cannot be sold before a second facilitator exists.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FUNDED CASE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capital actually buys.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03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capped scenarios assume a founder selling alone with no acquisition budget. Funded, the constraint moves from reach to headcount — and headcount is a decision rather than a ceiling.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2880360"/>
          <a:ext cx="6035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926080"/>
            <a:ext cx="2103120" cy="1143000"/>
          </a:xfrm>
          <a:prstGeom prst="roundRect">
            <a:avLst>
              <a:gd name="adj" fmla="val 400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43216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€1.24M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443216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436608" y="2926080"/>
            <a:ext cx="2103120" cy="1143000"/>
          </a:xfrm>
          <a:prstGeom prst="roundRect">
            <a:avLst>
              <a:gd name="adj" fmla="val 400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56064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2,589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656064" y="3611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members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23760" y="4251960"/>
            <a:ext cx="2103120" cy="1143000"/>
          </a:xfrm>
          <a:prstGeom prst="roundRect">
            <a:avLst>
              <a:gd name="adj" fmla="val 400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43216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€238K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443216" y="4937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cash need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436608" y="4251960"/>
            <a:ext cx="2103120" cy="1143000"/>
          </a:xfrm>
          <a:prstGeom prst="roundRect">
            <a:avLst>
              <a:gd name="adj" fmla="val 4000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56064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656064" y="4937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cash need is €238K. Breakeven arrives in year three, at roughly €156,000 of revenue per head across eight roles.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FUNDED CASE · THE OPERATION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remote team, and the stack beneath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2221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/ CEO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4597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Sales-led. Enterprise pipeline and method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807208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1181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corporate number from year two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465576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3538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lead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37764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generation, content, the free-track SEO asset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123944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33272" y="4197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engineer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44348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model, seats, SSO, admin, reporting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2221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lead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4597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criteria, protocol review, sourcing licensed practitioners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2807208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5392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Facilitators — contract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31181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capacity. Scales with contracted revenue, never behind 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3465576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65392" y="3538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producer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37764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tracks — Sleep, Nutrition, Strength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4123944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5392" y="4197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success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44348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year three. Renewals are where B2B compounds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(Frankfurt) · Paddle merchant of record · AI tooling and agentic development — Claude Max and Claude Code, ChatGPT, Runway, API · CRM and sales tooling · transactional and marketing email · SSO and identity · analytics and support desk · security and compliance tooling · legal, DPA, insurance and accounting · paid acquisition and events.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035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tooling runs €6,000 in year one to €28,000 in year three — against €20,000-plus a year of contract engineering, design and production it replaces. It is the reason one engineer is enough.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engineer is enough.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57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87"/>
              </a:lnSpc>
              <a:buNone/>
            </a:pPr>
            <a:r>
              <a:rPr lang="en-US" sz="13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— thirty protocols, three hundred resources, the member architecture, the design system and every document in this deck — was built by one person using agentic tooling. That is not a cost saving. It is the operating model.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136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engineering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3145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€12,000–18,000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3154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running written pass briefs against the repository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3630168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collateral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€4,000–6,000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813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Mockups, decks and buyer documents, reviewed rather than commissioned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288536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453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and motion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€2,000–4,000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4714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— the film, track banners, corporate collateral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946904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111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and documentation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5120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€3,000–5,000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5129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content, briefs, legal drafting for review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5669280"/>
            <a:ext cx="10652760" cy="566928"/>
          </a:xfrm>
          <a:prstGeom prst="roundRect">
            <a:avLst>
              <a:gd name="adj" fmla="val 8065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5833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tooling, actual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5843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€6,000–28,000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5852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 to year three. Claude Max and Claude Code, ChatGPT, Runway, API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 · THE LIMIT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compresses construction.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replace judgement.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5120640" cy="2651760"/>
          </a:xfrm>
          <a:prstGeom prst="roundRect">
            <a:avLst>
              <a:gd name="adj" fmla="val 172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33375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revises against a written specification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 large codebase in context across sessions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documents, mockups and briefs at speed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one engineer carry a platform build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651760"/>
            <a:ext cx="5120640" cy="2651760"/>
          </a:xfrm>
          <a:prstGeom prst="roundRect">
            <a:avLst>
              <a:gd name="adj" fmla="val 1724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33375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is worth building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its own work against a live system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clinical, legal or commercial judgement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need for review — which is where the time goes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577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defect this project has shipped traces to an unverified assumption entering a specification, not to the tooling failing. The discipline that catches it — written briefs, a fix register, verification through the route a member actually takes — is the part that does not scale automatically.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se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240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2240280"/>
          </a:xfrm>
          <a:prstGeom prst="rect">
            <a:avLst/>
          </a:prstGeom>
          <a:solidFill>
            <a:srgbClr val="0F1420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949440" cy="2240280"/>
          </a:xfrm>
          <a:prstGeom prst="rect">
            <a:avLst/>
          </a:prstGeom>
          <a:solidFill>
            <a:srgbClr val="0F1420">
              <a:alpha val="91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first — because it is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fast feedback loop.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5059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has no procurement cycle, no buying committee and no clinical gate blocking the sale. Someone arrives, opens a protocol, and either returns or does not. That loop is measured in days. The corporate one is measured in quarters.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3154680"/>
            <a:ext cx="10652760" cy="804672"/>
          </a:xfrm>
          <a:prstGeom prst="roundRect">
            <a:avLst>
              <a:gd name="adj" fmla="val 568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69848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library, open the market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330098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tracks ship. Eight live. The €29 tier opens — €19 for Tracks 02–04, €29 for all eight. First measured conversion number.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4050792"/>
            <a:ext cx="10652760" cy="804672"/>
          </a:xfrm>
          <a:prstGeom prst="roundRect">
            <a:avLst>
              <a:gd name="adj" fmla="val 568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9848" y="4233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69848" y="44897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holds, open B2B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419709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 reaches its churn test. Clinical gate closes. Two pilots delivered and written up. Sector bundles drafted from real protocol-open data, not assumption.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4946904"/>
            <a:ext cx="10652760" cy="804672"/>
          </a:xfrm>
          <a:prstGeom prst="roundRect">
            <a:avLst>
              <a:gd name="adj" fmla="val 5682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69848" y="5129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9848" y="53858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raise conversation opens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434840" y="509320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1"/>
              </a:lnSpc>
              <a:buNone/>
            </a:pPr>
            <a:r>
              <a:rPr lang="en-US" sz="10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traction, two findings reports, one named reference — built on $15,000 and no paid acquisition.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897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consumer build is a pricing prerequisite, not a content ambition — the €19/€29 split does not exist until eight tracks do. It de-risks the product, not the sale.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MONTH SIX CREDIBLE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Ratios first. Volume second.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848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scale an investor is not testing whether we can buy users. They are testing whether the unit economics work when we do. 250 members at 4% churn is a better story than 800 at 12%.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HIT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2962656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→ paid conversion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3.5%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30998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3% the funnel is the problem, not the reach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511296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648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churn, paid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6484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6% annualises past 50% and every forecast collapses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059936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197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Second-protocol open rate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45%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41970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method transfers between states — the whole architecture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4608576"/>
            <a:ext cx="10652760" cy="475488"/>
          </a:xfrm>
          <a:prstGeom prst="roundRect">
            <a:avLst>
              <a:gd name="adj" fmla="val 961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745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members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47457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at which the two ratios above become meaningful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2486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" y="555955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" y="5678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members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07792" y="555955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54096" y="5678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€6,500 MRR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38344" y="555955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84648" y="5678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≥20% on the €29 tier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68896" y="555955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0" y="5678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pilot reports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99448" y="5559552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45752" y="5678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named reference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conversion comes in at 2%, that is information rather than failure — but it changes the raise. Path B assumes 4.2%.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 · PATH 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€350,000 to breakeven.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6"/>
              </a:lnSpc>
              <a:buNone/>
            </a:pPr>
            <a:r>
              <a:rPr lang="en-US" sz="13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cumulative cash trough is €238,000, reached during year two. €350,000 covers it with a 12 per cent contingency and funds the operation to breakeven in year three — so the next conversation happens from revenue, not from runway.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880360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953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— enterprise platform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2962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€96,000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29626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model, seats, SSO, admin, reporting. Twelve months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3319272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392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lead and acquisition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€92,000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3401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 and the free-track SEO asset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758184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31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AE — from month seven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€48,000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840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Part-year. Carries the corporate number into year two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4197096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270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governance and facilitation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€34,000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279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Retainer, escalation criteria, first contracted facilitators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4636008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— Sleep, Nutrition, Strength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4718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€28,000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7183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substrate layer and opens the €29 tier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5074920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5148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Legal, compliance, entity, insurance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5157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€22,000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51572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DPA, SCCs, trademark clearance, security review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" y="5513832"/>
            <a:ext cx="10652760" cy="384048"/>
          </a:xfrm>
          <a:prstGeom prst="roundRect">
            <a:avLst>
              <a:gd name="adj" fmla="val 11905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586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Contingency — 12 per cent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5596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€38,000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596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39"/>
              </a:lnSpc>
              <a:buNone/>
            </a:pPr>
            <a:r>
              <a:rPr lang="en-US" sz="9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not yet visible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is not needed to build the product — $202,860 of it is already in. It is needed to buy distribution, delivery capacity and evidence.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 · PATH 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€500,000 to €1.7M in year two.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25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business, hired ahead of proof instead of behind it. Enterprise platform in month six, three AEs by the start of year two, acquisition funded rather than organic.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743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2743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· €350,000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27432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· €500,000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063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revenue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30723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€123,000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0723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€283,000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364992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410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 revenue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4198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€631,000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4198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€1,686,000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712464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7581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 revenue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767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€1,244,000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67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€3,233,000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059936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105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Members, end of year 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4114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2,589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114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6,382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4407408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453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cash need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4622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€238,000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4622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€397,000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4754880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4800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Breakeven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48097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8097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5102352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5148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platform live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51572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51572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" y="5449824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1560" y="5495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headcount, year 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5504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5504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" y="5797296"/>
            <a:ext cx="10652760" cy="320040"/>
          </a:xfrm>
          <a:prstGeom prst="roundRect">
            <a:avLst>
              <a:gd name="adj" fmla="val 14286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1560" y="58430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signups / month, year 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5852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8366760" y="5852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77240" y="59893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Blended acquisition cost is €62 per paying member against €228 of first-year revenue at €19, or €348 at €29. That payback is what makes path B a plan rather than a hope.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 · THE TRADE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hires behind proof.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hires ahead of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606040"/>
            <a:ext cx="5120640" cy="2834640"/>
          </a:xfrm>
          <a:prstGeom prst="roundRect">
            <a:avLst>
              <a:gd name="adj" fmla="val 1613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E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A · €350,000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3291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carries the corporate pipeline through year two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AE, one marketing lead, one engineer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in year three at €1.24M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hire follows evidence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 2% conversion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606040"/>
            <a:ext cx="5120640" cy="2834640"/>
          </a:xfrm>
          <a:prstGeom prst="roundRect">
            <a:avLst>
              <a:gd name="adj" fmla="val 1613"/>
            </a:avLst>
          </a:prstGeom>
          <a:solidFill>
            <a:srgbClr val="1C2236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8A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B · €500,000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3291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shipped in month six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AEs and funded acquisition from year two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in year two at €1.69M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AE hired before the motion is proven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◇"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4.2% conversion rate to hold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B is worth more if it works and loses more if it does not. The variable that decides it is conversion — and nobody knows it yet, because no one has paid.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6035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produces that number in month six. It is available as a first tranche.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RAISE · WHAT IT PROVES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milestones, in order.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0652760" cy="1078992"/>
          </a:xfrm>
          <a:prstGeom prst="roundRect">
            <a:avLst>
              <a:gd name="adj" fmla="val 423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Willingness to pay, established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235000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conversion rate from real signups. Two pilot findings reports written. First paid workshops and 1:1 delivered. The clinical gate closed.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319272"/>
            <a:ext cx="10652760" cy="1078992"/>
          </a:xfrm>
          <a:prstGeom prst="roundRect">
            <a:avLst>
              <a:gd name="adj" fmla="val 423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E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12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3822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corporate engine, running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520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live — organisations, seats, SSO, reporting. First annual access contracts signed. One named reference customer. Eight tracks live and the €29 tier open.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489704"/>
            <a:ext cx="10652760" cy="1078992"/>
          </a:xfrm>
          <a:prstGeom prst="roundRect">
            <a:avLst>
              <a:gd name="adj" fmla="val 4237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4690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30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49926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Breakeven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69087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3"/>
              </a:lnSpc>
              <a:buNone/>
            </a:pPr>
            <a:r>
              <a:rPr lang="en-US" sz="1150" dirty="0">
                <a:solidFill>
                  <a:srgbClr val="DDD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€1.2M run-rate. 2,500+ paying members. A corporate pipeline carried by an AE rather than the founder. The next conversation happens from revenue.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806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milestone that de-risks everything is not revenue. It is two written pilot findings reports and a named reference customer — because that is the first question every organisational buyer asks.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 REGISTER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yet true.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20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does not exist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011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assumes 400–1,200 free signups monthly by year three. No mechanism currently produces one. The site is not indexed and there is no ad budget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14016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paying members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5054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capacity is proven beyond argument. Willingness to pay is entirely untested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907792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008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 capacity is the B2B ceiling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9992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four hours a month exists. Annual access at the top band cannot be sold before a second facilitator is contracted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3401568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502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organisation data model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4930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belong to individuals. Nothing represents an organisation, provisions seats, or produces the quarterly seats-in-use figure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895344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contracting incomplete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98678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lead in place; licensed third-party practitioners not yet contracted for the tracks that require them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4389120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external launch gates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4480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provisioning and Paddle seller approval. Both outside founder control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4882896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Trademark proximity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9743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adjacent iOS product markets itself as “Regulate. Rewire. Rise.” To be cleared before wide launch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5376672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5477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acute short-form format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5468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safety-critical sector needs something usable in a patrol car or between cases. The shortest resource in the library is far longer. A 90-second format is unbuilt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" y="5870448"/>
            <a:ext cx="10652760" cy="429768"/>
          </a:xfrm>
          <a:prstGeom prst="roundRect">
            <a:avLst>
              <a:gd name="adj" fmla="val 10638"/>
            </a:avLst>
          </a:prstGeom>
          <a:solidFill>
            <a:srgbClr val="161B2B"/>
          </a:solidFill>
          <a:ln w="9525">
            <a:solidFill>
              <a:srgbClr val="2E35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5971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7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drift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89120" y="59618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8"/>
              </a:lnSpc>
              <a:buNone/>
            </a:pPr>
            <a:r>
              <a:rPr lang="en-US" sz="9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versions and decisions now exist that reviving a retired choice is the live operational risk. Decision-priority rules are documented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61996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A6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deck that hides its biggest risk is worth less than one that names it.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SafeRise Protocol · Business Development Assessment · September 2026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373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8A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POSITION, IN ONE LINE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finished product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an unconsolidated market,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dirty="0">
                <a:solidFill>
                  <a:srgbClr val="F5ED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for reach.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4348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68"/>
              </a:lnSpc>
              <a:buNone/>
            </a:pPr>
            <a:r>
              <a:rPr lang="en-US" sz="1400" dirty="0">
                <a:solidFill>
                  <a:srgbClr val="A6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$202,860 of work is in. Thirty protocols, three tracks, four revenue streams and two expansion axes are specified and built. The top five competitors hold 15% of the market between them. What is missing is distribution. €350,000 reaches breakeven; €500,000 reaches €1.7M in year two.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760720"/>
            <a:ext cx="2011680" cy="0"/>
          </a:xfrm>
          <a:prstGeom prst="line">
            <a:avLst/>
          </a:prstGeom>
          <a:noFill/>
          <a:ln w="12700">
            <a:solidFill>
              <a:srgbClr val="D8AA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A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 Robley  ·  thesaferiseprotocol.com  ·  Kenor International B.V.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SafeRise Protocol — Business Development Assessment</dc:title>
  <dc:subject>PptxGenJS Presentation</dc:subject>
  <dc:creator>SafeRise Protocol · Kenor International B.V.</dc:creator>
  <cp:lastModifiedBy>SafeRise Protocol · Kenor International B.V.</cp:lastModifiedBy>
  <cp:revision>1</cp:revision>
  <dcterms:created xsi:type="dcterms:W3CDTF">2026-09-14T16:48:59Z</dcterms:created>
  <dcterms:modified xsi:type="dcterms:W3CDTF">2026-09-14T16:48:59Z</dcterms:modified>
</cp:coreProperties>
</file>